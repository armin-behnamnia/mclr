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Arimo"/>
      <p:regular r:id="rId36"/>
      <p:bold r:id="rId37"/>
      <p:italic r:id="rId38"/>
      <p:boldItalic r:id="rId39"/>
    </p:embeddedFont>
    <p:embeddedFont>
      <p:font typeface="Arimo SemiBold"/>
      <p:regular r:id="rId40"/>
      <p:bold r:id="rId41"/>
      <p:italic r:id="rId42"/>
      <p:boldItalic r:id="rId43"/>
    </p:embeddedFont>
    <p:embeddedFont>
      <p:font typeface="Arimo Medium"/>
      <p:regular r:id="rId44"/>
      <p:bold r:id="rId45"/>
      <p:italic r:id="rId46"/>
      <p:boldItalic r:id="rId47"/>
    </p:embeddedFont>
    <p:embeddedFont>
      <p:font typeface="Vazirmatn"/>
      <p:regular r:id="rId48"/>
      <p:bold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485932-9A0E-4155-8583-201AB00847F1}">
  <a:tblStyle styleId="{1C485932-9A0E-4155-8583-201AB00847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moSemiBold-regular.fntdata"/><Relationship Id="rId42" Type="http://schemas.openxmlformats.org/officeDocument/2006/relationships/font" Target="fonts/ArimoSemiBold-italic.fntdata"/><Relationship Id="rId41" Type="http://schemas.openxmlformats.org/officeDocument/2006/relationships/font" Target="fonts/ArimoSemiBold-bold.fntdata"/><Relationship Id="rId44" Type="http://schemas.openxmlformats.org/officeDocument/2006/relationships/font" Target="fonts/ArimoMedium-regular.fntdata"/><Relationship Id="rId43" Type="http://schemas.openxmlformats.org/officeDocument/2006/relationships/font" Target="fonts/ArimoSemiBold-boldItalic.fntdata"/><Relationship Id="rId46" Type="http://schemas.openxmlformats.org/officeDocument/2006/relationships/font" Target="fonts/ArimoMedium-italic.fntdata"/><Relationship Id="rId45" Type="http://schemas.openxmlformats.org/officeDocument/2006/relationships/font" Target="fonts/Arimo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Vazirmatn-regular.fntdata"/><Relationship Id="rId47" Type="http://schemas.openxmlformats.org/officeDocument/2006/relationships/font" Target="fonts/ArimoMedium-boldItalic.fntdata"/><Relationship Id="rId49" Type="http://schemas.openxmlformats.org/officeDocument/2006/relationships/font" Target="fonts/Vazirmatn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Arimo-bold.fntdata"/><Relationship Id="rId36" Type="http://schemas.openxmlformats.org/officeDocument/2006/relationships/font" Target="fonts/Arimo-regular.fntdata"/><Relationship Id="rId39" Type="http://schemas.openxmlformats.org/officeDocument/2006/relationships/font" Target="fonts/Arimo-boldItalic.fntdata"/><Relationship Id="rId38" Type="http://schemas.openxmlformats.org/officeDocument/2006/relationships/font" Target="fonts/Arimo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7fc52d81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7fc52d81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e7becc8d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ae7becc8d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7fc52d8113_0_1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7fc52d8113_0_1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d548345d1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d548345d1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c8724cec0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c8724cec0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c8724cec0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c8724cec0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d548345d1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d548345d1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8724cec0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c8724cec0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d548345d1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d548345d1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978358f13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978358f1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978358f13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978358f13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978358f13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978358f13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978358f13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978358f13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978358f13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978358f13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548345d1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d548345d1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d548345d1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d548345d1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c8724cec0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c8724cec0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d548345d1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d548345d1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d548345d1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d548345d1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548345d1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d548345d1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d548345d10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d548345d1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c8724cec0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c8724cec0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d548345d10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d548345d1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c8724cec0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c8724cec0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d548345d10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d548345d1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d548345d1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d548345d1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c87ff38861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c87ff3886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d548345d10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d548345d10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7fc52d8113_0_1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7fc52d8113_0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19" name="Google Shape;19;p3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3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1" name="Google Shape;21;p3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24" name="Google Shape;24;p3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9" name="Google Shape;29;p4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0" name="Google Shape;30;p4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1" name="Google Shape;31;p4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2" name="Google Shape;32;p4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3" name="Google Shape;33;p4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7" name="Google Shape;37;p4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8" name="Google Shape;38;p4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" name="Google Shape;39;p4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0" name="Google Shape;40;p4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1" name="Google Shape;41;p4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2" name="Google Shape;42;p4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7" name="Google Shape;57;p5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8" name="Google Shape;58;p5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" name="Google Shape;59;p5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0" name="Google Shape;60;p5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1" name="Google Shape;61;p5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7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78" name="Google Shape;78;p7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79" name="Google Shape;79;p7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0" name="Google Shape;80;p7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1" name="Google Shape;81;p7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2" name="Google Shape;82;p7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92" name="Google Shape;92;p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9"/>
          <p:cNvPicPr preferRelativeResize="0"/>
          <p:nvPr/>
        </p:nvPicPr>
        <p:blipFill rotWithShape="1">
          <a:blip r:embed="rId2">
            <a:alphaModFix amt="10000"/>
          </a:blip>
          <a:srcRect b="720" l="1068" r="20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97" name="Google Shape;97;p9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4" name="Google Shape;104;p10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5" name="Google Shape;105;p10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09" name="Google Shape;109;p11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10" name="Google Shape;110;p11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11" name="Google Shape;111;p11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8" name="Google Shape;118;p12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19" name="Google Shape;119;p12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6" name="Google Shape;126;p13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4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6" name="Google Shape;136;p14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7" name="Google Shape;137;p14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" name="Google Shape;138;p14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1" name="Google Shape;141;p15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2" name="Google Shape;142;p15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3" name="Google Shape;143;p1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5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8" name="Google Shape;148;p15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9" name="Google Shape;149;p15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0" name="Google Shape;150;p15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5" name="Google Shape;155;p16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6" name="Google Shape;156;p16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7" name="Google Shape;157;p16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16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17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4" name="Google Shape;174;p17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5" name="Google Shape;175;p17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6" name="Google Shape;176;p17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3" name="Google Shape;183;p18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184" name="Google Shape;184;p18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5" name="Google Shape;185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8" name="Google Shape;188;p19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89" name="Google Shape;189;p19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0" name="Google Shape;190;p19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1" name="Google Shape;191;p19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2" name="Google Shape;192;p19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3" name="Google Shape;193;p19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4" name="Google Shape;194;p19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5" name="Google Shape;195;p19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7" name="Google Shape;197;p19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1" name="Google Shape;201;p19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05" name="Google Shape;205;p20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" name="Google Shape;213;p21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5" name="Google Shape;215;p21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16" name="Google Shape;216;p21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17" name="Google Shape;217;p21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18" name="Google Shape;218;p21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19" name="Google Shape;219;p21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20" name="Google Shape;220;p21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21" name="Google Shape;221;p21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3" name="Google Shape;223;p21"/>
          <p:cNvCxnSpPr>
            <a:stCxn id="221" idx="1"/>
            <a:endCxn id="221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1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8" name="Google Shape;228;p21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9" name="Google Shape;229;p21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21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1" name="Google Shape;231;p21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2" name="Google Shape;232;p21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21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4" name="Google Shape;234;p21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5" name="Google Shape;235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1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39" name="Google Shape;239;p22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40" name="Google Shape;240;p22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2" name="Google Shape;242;p22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4" name="Google Shape;244;p2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22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50" name="Google Shape;25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8" name="Google Shape;258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9" name="Google Shape;259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69" name="Google Shape;269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0" name="Google Shape;270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1" name="Google Shape;281;p3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3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3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3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7" name="Google Shape;287;p3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3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1" name="Google Shape;291;p3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2" name="Google Shape;292;p3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3" name="Google Shape;293;p3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8" name="Google Shape;298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9" name="Google Shape;299;p3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0" name="Google Shape;300;p3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1" name="Google Shape;301;p3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2" name="Google Shape;302;p3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5" name="Google Shape;305;p3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3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3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9" name="Google Shape;309;p3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3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3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2" name="Google Shape;312;p3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5" name="Google Shape;315;p3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8" name="Google Shape;318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1" name="Google Shape;32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3" name="Google Shape;323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6" name="Google Shape;326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9" name="Google Shape;329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1" name="Google Shape;33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3" name="Google Shape;333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4" name="Google Shape;334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5" name="Google Shape;345;p4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2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zirmatn"/>
              <a:buChar char="●"/>
              <a:defRPr sz="1200"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zirmatn"/>
              <a:buChar char="○"/>
              <a:defRPr sz="1200"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zirmatn"/>
              <a:buChar char="■"/>
              <a:defRPr sz="1200"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zirmatn"/>
              <a:buChar char="●"/>
              <a:defRPr sz="1200"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zirmatn"/>
              <a:buChar char="○"/>
              <a:defRPr sz="1200"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zirmatn"/>
              <a:buChar char="■"/>
              <a:defRPr sz="1200"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zirmatn"/>
              <a:buChar char="●"/>
              <a:defRPr sz="1200"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zirmatn"/>
              <a:buChar char="○"/>
              <a:defRPr sz="1200"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zirmatn"/>
              <a:buChar char="■"/>
              <a:defRPr sz="1200"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دوره تحلیل داده</a:t>
            </a:r>
            <a:endParaRPr/>
          </a:p>
        </p:txBody>
      </p:sp>
      <p:sp>
        <p:nvSpPr>
          <p:cNvPr id="353" name="Google Shape;353;p44"/>
          <p:cNvSpPr txBox="1"/>
          <p:nvPr>
            <p:ph type="title"/>
          </p:nvPr>
        </p:nvSpPr>
        <p:spPr>
          <a:xfrm>
            <a:off x="3400700" y="843725"/>
            <a:ext cx="4838100" cy="256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نمایش داده</a:t>
            </a:r>
            <a:endParaRPr/>
          </a:p>
        </p:txBody>
      </p:sp>
      <p:pic>
        <p:nvPicPr>
          <p:cNvPr id="354" name="Google Shape;354;p44" title="954420f862fca80ab9c2bc5ace304b70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275" y="1847300"/>
            <a:ext cx="3095900" cy="2109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معرفی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365" name="Google Shape;365;p4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چرا داده‌ها را نمایش می‌دهیم؟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67" name="Google Shape;367;p46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8" name="Google Shape;368;p46"/>
          <p:cNvSpPr txBox="1"/>
          <p:nvPr>
            <p:ph type="title"/>
          </p:nvPr>
        </p:nvSpPr>
        <p:spPr>
          <a:xfrm>
            <a:off x="960475" y="1082175"/>
            <a:ext cx="7789500" cy="3777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شما در هر نموداری: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۱. بخشی از اطلاعات را حذف می‌کنید. </a:t>
            </a:r>
            <a:endParaRPr b="0" sz="1700">
              <a:solidFill>
                <a:schemeClr val="lt1"/>
              </a:solidFill>
            </a:endParaRPr>
          </a:p>
          <a:p>
            <a:pPr indent="45720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1"/>
                </a:solidFill>
              </a:rPr>
              <a:t>مثال:</a:t>
            </a:r>
            <a:r>
              <a:rPr b="0" lang="en" sz="1700">
                <a:solidFill>
                  <a:schemeClr val="lt1"/>
                </a:solidFill>
              </a:rPr>
              <a:t> میانگین قد دانش‌‌آموزان مدارس مختلف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چرا؟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۲. هدف از نمودار اطلاع‌رسانی در مورد </a:t>
            </a:r>
            <a:r>
              <a:rPr lang="en" sz="1700" u="sng">
                <a:solidFill>
                  <a:schemeClr val="lt1"/>
                </a:solidFill>
              </a:rPr>
              <a:t>مفهومی</a:t>
            </a:r>
            <a:r>
              <a:rPr b="0" lang="en" sz="1700" u="sng">
                <a:solidFill>
                  <a:schemeClr val="lt1"/>
                </a:solidFill>
              </a:rPr>
              <a:t> </a:t>
            </a:r>
            <a:r>
              <a:rPr lang="en" sz="1700" u="sng">
                <a:solidFill>
                  <a:schemeClr val="lt1"/>
                </a:solidFill>
              </a:rPr>
              <a:t>مشخص</a:t>
            </a:r>
            <a:r>
              <a:rPr b="0" lang="en" sz="1700">
                <a:solidFill>
                  <a:schemeClr val="lt1"/>
                </a:solidFill>
              </a:rPr>
              <a:t> است.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</a:t>
            </a:r>
            <a:r>
              <a:rPr b="0" i="1" lang="en" sz="1700">
                <a:solidFill>
                  <a:schemeClr val="lt1"/>
                </a:solidFill>
              </a:rPr>
              <a:t>در مثال بالا فرض کنید</a:t>
            </a:r>
            <a:endParaRPr b="0" i="1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نیاز دارید در مورد استعداد هر مدرسه در تشکیل تیم بسکتبال منطقه تصمیم بگیرید.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</p:txBody>
      </p:sp>
      <p:pic>
        <p:nvPicPr>
          <p:cNvPr id="369" name="Google Shape;36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400" y="922100"/>
            <a:ext cx="2983301" cy="298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7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نمودار‌ها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380" name="Google Shape;380;p4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نمودار Histogram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82" name="Google Shape;382;p48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3" name="Google Shape;383;p48"/>
          <p:cNvSpPr txBox="1"/>
          <p:nvPr>
            <p:ph type="title"/>
          </p:nvPr>
        </p:nvSpPr>
        <p:spPr>
          <a:xfrm>
            <a:off x="960475" y="1082175"/>
            <a:ext cx="7789500" cy="3777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در نمودار histogram میزان تکرر مقادیر مختلف یک متغیر نمایش داده می‌شود.</a:t>
            </a:r>
            <a:endParaRPr b="0" sz="15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یک سری سطل (bin) تعیین می‌شود. اندازه آن‌ ریزدانگی محاسبه فرکانس را مشخص ‌می‌کند.</a:t>
            </a:r>
            <a:endParaRPr b="0" sz="1700">
              <a:solidFill>
                <a:schemeClr val="lt1"/>
              </a:solidFill>
            </a:endParaRPr>
          </a:p>
        </p:txBody>
      </p:sp>
      <p:pic>
        <p:nvPicPr>
          <p:cNvPr id="384" name="Google Shape;38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6725" y="2571750"/>
            <a:ext cx="1210550" cy="12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390" name="Google Shape;390;p4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نمودار KDE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92" name="Google Shape;392;p49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3" name="Google Shape;393;p49"/>
          <p:cNvSpPr txBox="1"/>
          <p:nvPr>
            <p:ph type="title"/>
          </p:nvPr>
        </p:nvSpPr>
        <p:spPr>
          <a:xfrm>
            <a:off x="4572000" y="1082175"/>
            <a:ext cx="4178100" cy="3777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نمودار KDE یا</a:t>
            </a:r>
            <a:br>
              <a:rPr b="0" lang="en" sz="1700">
                <a:solidFill>
                  <a:schemeClr val="lt1"/>
                </a:solidFill>
              </a:rPr>
            </a:br>
            <a:r>
              <a:rPr b="0" lang="en" sz="1700">
                <a:solidFill>
                  <a:schemeClr val="lt1"/>
                </a:solidFill>
              </a:rPr>
              <a:t>	</a:t>
            </a:r>
            <a:r>
              <a:rPr b="0" lang="en" sz="1700">
                <a:solidFill>
                  <a:schemeClr val="lt1"/>
                </a:solidFill>
              </a:rPr>
              <a:t> Kernel Density Estimate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تخمینی از </a:t>
            </a:r>
            <a:r>
              <a:rPr lang="en" sz="1700">
                <a:solidFill>
                  <a:schemeClr val="lt1"/>
                </a:solidFill>
              </a:rPr>
              <a:t>توزیع احتمال</a:t>
            </a:r>
            <a:r>
              <a:rPr b="0" lang="en" sz="1700">
                <a:solidFill>
                  <a:schemeClr val="lt1"/>
                </a:solidFill>
              </a:rPr>
              <a:t> داده‌ها انجام می‌دهد.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در Histogram هم همینکار انجام می‌شود.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اما در KDE یک نمودار </a:t>
            </a:r>
            <a:r>
              <a:rPr b="0" lang="en" sz="1700" u="sng">
                <a:solidFill>
                  <a:schemeClr val="lt1"/>
                </a:solidFill>
              </a:rPr>
              <a:t>هموار و پیوسته</a:t>
            </a:r>
            <a:r>
              <a:rPr b="0" lang="en" sz="1700">
                <a:solidFill>
                  <a:schemeClr val="lt1"/>
                </a:solidFill>
              </a:rPr>
              <a:t> تولید می‌شود. 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</p:txBody>
      </p:sp>
      <p:pic>
        <p:nvPicPr>
          <p:cNvPr id="394" name="Google Shape;39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325" y="1723350"/>
            <a:ext cx="3733800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400" name="Google Shape;400;p5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نمودار KDE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02" name="Google Shape;402;p50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3" name="Google Shape;403;p50"/>
          <p:cNvSpPr txBox="1"/>
          <p:nvPr>
            <p:ph type="title"/>
          </p:nvPr>
        </p:nvSpPr>
        <p:spPr>
          <a:xfrm>
            <a:off x="4572000" y="1082175"/>
            <a:ext cx="4178100" cy="3777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در نمودار KDE نیازی به تعیین تعداد یا اندازه Bin مانند Histogram نیست.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نمودار KDE برای </a:t>
            </a:r>
            <a:r>
              <a:rPr lang="en" sz="1700">
                <a:solidFill>
                  <a:schemeClr val="lt1"/>
                </a:solidFill>
              </a:rPr>
              <a:t>مقایسه</a:t>
            </a:r>
            <a:r>
              <a:rPr b="0" lang="en" sz="1700">
                <a:solidFill>
                  <a:schemeClr val="lt1"/>
                </a:solidFill>
              </a:rPr>
              <a:t> توزیع </a:t>
            </a:r>
            <a:r>
              <a:rPr lang="en" sz="1700">
                <a:solidFill>
                  <a:schemeClr val="lt1"/>
                </a:solidFill>
              </a:rPr>
              <a:t>دو</a:t>
            </a:r>
            <a:r>
              <a:rPr b="0" lang="en" sz="1700">
                <a:solidFill>
                  <a:schemeClr val="lt1"/>
                </a:solidFill>
              </a:rPr>
              <a:t> متغیر مختلف مناسب است.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</p:txBody>
      </p:sp>
      <p:pic>
        <p:nvPicPr>
          <p:cNvPr id="404" name="Google Shape;40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1000" y="2349925"/>
            <a:ext cx="1210550" cy="12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410" name="Google Shape;410;p5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نمودار Box-plot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1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12" name="Google Shape;412;p51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3" name="Google Shape;413;p51"/>
          <p:cNvSpPr txBox="1"/>
          <p:nvPr>
            <p:ph type="title"/>
          </p:nvPr>
        </p:nvSpPr>
        <p:spPr>
          <a:xfrm>
            <a:off x="960475" y="1301250"/>
            <a:ext cx="7789500" cy="3558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نمودار Box-plot برای مقایسه </a:t>
            </a:r>
            <a:r>
              <a:rPr b="0" i="1" lang="en" sz="1700">
                <a:solidFill>
                  <a:schemeClr val="lt1"/>
                </a:solidFill>
              </a:rPr>
              <a:t>چهارک‌ها</a:t>
            </a:r>
            <a:r>
              <a:rPr b="0" lang="en" sz="1700">
                <a:solidFill>
                  <a:schemeClr val="lt1"/>
                </a:solidFill>
              </a:rPr>
              <a:t> و </a:t>
            </a:r>
            <a:r>
              <a:rPr b="0" i="1" lang="en" sz="1700">
                <a:solidFill>
                  <a:schemeClr val="lt1"/>
                </a:solidFill>
              </a:rPr>
              <a:t>مقادیر پرت</a:t>
            </a:r>
            <a:r>
              <a:rPr b="0" lang="en" sz="1700">
                <a:solidFill>
                  <a:schemeClr val="lt1"/>
                </a:solidFill>
              </a:rPr>
              <a:t> 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</a:t>
            </a:r>
            <a:r>
              <a:rPr lang="en" sz="1700">
                <a:solidFill>
                  <a:schemeClr val="lt1"/>
                </a:solidFill>
              </a:rPr>
              <a:t>متغیر‌های مختلف</a:t>
            </a:r>
            <a:r>
              <a:rPr b="0" lang="en" sz="1700">
                <a:solidFill>
                  <a:schemeClr val="lt1"/>
                </a:solidFill>
              </a:rPr>
              <a:t> یا </a:t>
            </a:r>
            <a:r>
              <a:rPr lang="en" sz="1700">
                <a:solidFill>
                  <a:schemeClr val="lt1"/>
                </a:solidFill>
              </a:rPr>
              <a:t>گروه‌های مختلف</a:t>
            </a:r>
            <a:endParaRPr sz="1700">
              <a:solidFill>
                <a:schemeClr val="lt1"/>
              </a:solidFill>
            </a:endParaRPr>
          </a:p>
          <a:p>
            <a:pPr indent="45720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از یک متغیر استفاده می‌شود.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</p:txBody>
      </p:sp>
      <p:pic>
        <p:nvPicPr>
          <p:cNvPr id="414" name="Google Shape;41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725" y="1873550"/>
            <a:ext cx="4560550" cy="304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420" name="Google Shape;420;p5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نمودار Box-plot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52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22" name="Google Shape;422;p52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3" name="Google Shape;423;p52"/>
          <p:cNvSpPr txBox="1"/>
          <p:nvPr>
            <p:ph type="title"/>
          </p:nvPr>
        </p:nvSpPr>
        <p:spPr>
          <a:xfrm>
            <a:off x="960475" y="1301250"/>
            <a:ext cx="7789500" cy="3558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45720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</p:txBody>
      </p:sp>
      <p:pic>
        <p:nvPicPr>
          <p:cNvPr id="424" name="Google Shape;42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9325" y="2097875"/>
            <a:ext cx="1210550" cy="12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430" name="Google Shape;430;p53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لگاریتم:‌ از جمع به ضرب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53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32" name="Google Shape;432;p53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3" name="Google Shape;433;p53"/>
          <p:cNvSpPr txBox="1"/>
          <p:nvPr>
            <p:ph type="title"/>
          </p:nvPr>
        </p:nvSpPr>
        <p:spPr>
          <a:xfrm>
            <a:off x="960475" y="1301250"/>
            <a:ext cx="7789500" cy="3558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بسیاری از متغیر‌های دنیای واقعی به صورت ضربی تغییر می‌کند نه جمعی!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۱. جمعیت یک کشور:‌ هر جامعه‌ای یک نرخ رشدی دارد. </a:t>
            </a:r>
            <a:endParaRPr b="0" sz="1700">
              <a:solidFill>
                <a:schemeClr val="lt1"/>
              </a:solidFill>
            </a:endParaRPr>
          </a:p>
          <a:p>
            <a:pPr indent="457200" lvl="0" marL="45720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مثلا رشد ۲۰ درصدی سالانه جمعیت: هر سال جمعیت ۱.۲ برابر می‌شود.</a:t>
            </a:r>
            <a:endParaRPr b="0" sz="1700">
              <a:solidFill>
                <a:schemeClr val="lt1"/>
              </a:solidFill>
            </a:endParaRPr>
          </a:p>
          <a:p>
            <a:pPr indent="0" lvl="0" marL="45720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۲. رشد سرمایه و پول:‌</a:t>
            </a:r>
            <a:endParaRPr b="0" sz="1700">
              <a:solidFill>
                <a:schemeClr val="lt1"/>
              </a:solidFill>
            </a:endParaRPr>
          </a:p>
          <a:p>
            <a:pPr indent="457200" lvl="0" marL="45720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 مثلا یک تاجر می‌تواند سرمایه خود را سالانه ۳۰ درصد زیاد کند.</a:t>
            </a:r>
            <a:endParaRPr b="0" sz="1700">
              <a:solidFill>
                <a:schemeClr val="lt1"/>
              </a:solidFill>
            </a:endParaRPr>
          </a:p>
          <a:p>
            <a:pPr indent="457200" lvl="0" marL="45720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هر سال سرمایه تاجر ضرب در ۱.۳ می‌شود.</a:t>
            </a:r>
            <a:endParaRPr b="0" sz="1700">
              <a:solidFill>
                <a:schemeClr val="lt1"/>
              </a:solidFill>
            </a:endParaRPr>
          </a:p>
          <a:p>
            <a:pPr indent="0" lvl="0" marL="45720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439" name="Google Shape;439;p5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لگاریتم:‌ از جمع به ضرب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5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41" name="Google Shape;441;p54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2" name="Google Shape;442;p54"/>
          <p:cNvSpPr txBox="1"/>
          <p:nvPr>
            <p:ph type="title"/>
          </p:nvPr>
        </p:nvSpPr>
        <p:spPr>
          <a:xfrm>
            <a:off x="960475" y="1301250"/>
            <a:ext cx="7789500" cy="3558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حال فرض کنید سرمایه یک شرکت در ۲۰ سال اخیر را بخواهیم نمایش دهیم.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هر سال سرمایه در عددی ضرب شده است.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برای ما مهم نیست </a:t>
            </a:r>
            <a:r>
              <a:rPr lang="en" sz="1700">
                <a:solidFill>
                  <a:schemeClr val="lt1"/>
                </a:solidFill>
              </a:rPr>
              <a:t>اختلاف</a:t>
            </a:r>
            <a:r>
              <a:rPr b="0" lang="en" sz="1700">
                <a:solidFill>
                  <a:schemeClr val="lt1"/>
                </a:solidFill>
              </a:rPr>
              <a:t> مقدار سرمایه ۱۴۰۴ و ۱۴۰۳ چقدر است.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برای ما مهم است که مقدار سرمایه ۱۴۰۳ در  سال بعد درچه عددی </a:t>
            </a:r>
            <a:r>
              <a:rPr lang="en" sz="1700">
                <a:solidFill>
                  <a:schemeClr val="lt1"/>
                </a:solidFill>
              </a:rPr>
              <a:t>ضرب</a:t>
            </a:r>
            <a:r>
              <a:rPr b="0" lang="en" sz="1700">
                <a:solidFill>
                  <a:schemeClr val="lt1"/>
                </a:solidFill>
              </a:rPr>
              <a:t> شده است.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</a:t>
            </a:r>
            <a:r>
              <a:rPr b="0" lang="en" sz="1700">
                <a:solidFill>
                  <a:schemeClr val="lt1"/>
                </a:solidFill>
              </a:rPr>
              <a:t>	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448" name="Google Shape;448;p5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لگاریتم:‌ از جمع به ضرب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55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50" name="Google Shape;450;p55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1" name="Google Shape;451;p55"/>
          <p:cNvSpPr txBox="1"/>
          <p:nvPr>
            <p:ph type="title"/>
          </p:nvPr>
        </p:nvSpPr>
        <p:spPr>
          <a:xfrm>
            <a:off x="960463" y="1204700"/>
            <a:ext cx="7789500" cy="3789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مثلا فرض کنید سرمایه یک شرکت در سال‌های مختلف به صورت زیر است: 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	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آیا کارایی شرکت در سال دوم بیشتر بوده است؟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اگر از دیدگاه جمعی بررسی کنیم، بله:  </a:t>
            </a:r>
            <a:r>
              <a:rPr b="0" lang="en" sz="1700">
                <a:solidFill>
                  <a:schemeClr val="lt1"/>
                </a:solidFill>
              </a:rPr>
              <a:t>2100-1500 = 600 &gt; 500 = 1500 - 1000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اما آیا رشد سرمایه واقعا سال دوم بیشتر بوده است؟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1500 / 1000 = 1.5 &gt; 1.4 = 2100 / 1500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</a:rPr>
              <a:t>خیر!</a:t>
            </a:r>
            <a:endParaRPr sz="2000">
              <a:solidFill>
                <a:schemeClr val="lt1"/>
              </a:solidFill>
            </a:endParaRPr>
          </a:p>
        </p:txBody>
      </p:sp>
      <p:graphicFrame>
        <p:nvGraphicFramePr>
          <p:cNvPr id="452" name="Google Shape;452;p55"/>
          <p:cNvGraphicFramePr/>
          <p:nvPr/>
        </p:nvGraphicFramePr>
        <p:xfrm>
          <a:off x="2780525" y="185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{1C485932-9A0E-4155-8583-201AB00847F1}</a:tableStyleId>
              </a:tblPr>
              <a:tblGrid>
                <a:gridCol w="1383125"/>
                <a:gridCol w="1383125"/>
                <a:gridCol w="13831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1404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1403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1402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458" name="Google Shape;458;p5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لگاریتم:‌ از جمع به ضرب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60" name="Google Shape;460;p56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1" name="Google Shape;461;p56"/>
          <p:cNvSpPr txBox="1"/>
          <p:nvPr>
            <p:ph type="title"/>
          </p:nvPr>
        </p:nvSpPr>
        <p:spPr>
          <a:xfrm>
            <a:off x="960475" y="1301250"/>
            <a:ext cx="7789500" cy="3558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لگاریتم به ما کمک می‌کند</a:t>
            </a:r>
            <a:endParaRPr b="0" sz="1700">
              <a:solidFill>
                <a:schemeClr val="lt1"/>
              </a:solidFill>
            </a:endParaRPr>
          </a:p>
          <a:p>
            <a:pPr indent="45720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 که بتوانیم با داده‌های با پراکندگی را رشد ضربی به صورت جمعی رفتار کنیم!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لگاریتم یک عدد به معنای این است</a:t>
            </a:r>
            <a:endParaRPr b="0" sz="1700">
              <a:solidFill>
                <a:schemeClr val="lt1"/>
              </a:solidFill>
            </a:endParaRPr>
          </a:p>
          <a:p>
            <a:pPr indent="45720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 که چند بار باید ۱۰ را در خودش ضرب کنیم که به این عدد برسیم.</a:t>
            </a:r>
            <a:endParaRPr b="0" sz="1700">
              <a:solidFill>
                <a:schemeClr val="lt1"/>
              </a:solidFill>
            </a:endParaRPr>
          </a:p>
          <a:p>
            <a:pPr indent="45720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مثلا لگاریتم عدد ۱۰۰۰ می‌شود ۳					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لگاریتم یک پایه دارد که مشخص می‌کند چه عددی را باید در خودش ضرب کنیم.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</p:txBody>
      </p:sp>
      <p:pic>
        <p:nvPicPr>
          <p:cNvPr id="462" name="Google Shape;462;p56" title="{&quot;red&quot;:0,&quot;green&quot;:0,&quot;blue&quot;:0,&quot;origURL&quot;:&quot;https://www.codecogs.com/eqnedit.php?latex=%5Clog_%7B10%7D%20(1000)%20%3D%203#0&quot;,&quot;size&quot;:17,&quot;width&quot;:613.3464566929134,&quot;height&quot;:280.2047244094488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475" y="3282248"/>
            <a:ext cx="2259250" cy="35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6" title="{&quot;red&quot;:0,&quot;green&quot;:0,&quot;blue&quot;:0,&quot;origURL&quot;:&quot;https://www.codecogs.com/eqnedit.php?latex=%5Clog_2(8)%3D3#0&quot;,&quot;size&quot;:17,&quot;width&quot;:613.3464566929134,&quot;height&quot;:280.20472440944883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0475" y="4252958"/>
            <a:ext cx="1832526" cy="3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469" name="Google Shape;469;p5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لگاریتم به دادمان می‌رسد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5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71" name="Google Shape;471;p57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72" name="Google Shape;472;p57"/>
          <p:cNvSpPr txBox="1"/>
          <p:nvPr>
            <p:ph type="title"/>
          </p:nvPr>
        </p:nvSpPr>
        <p:spPr>
          <a:xfrm>
            <a:off x="960463" y="1204700"/>
            <a:ext cx="7789500" cy="3789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حال به جای سرمایه شرکت، لگاریتم سرمایه شرکت را در نظر بگیرید.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 مهم نیست با چه پایه ای! مثلا با پایه ۱۰.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حال در فضای لگاریتم اختلاف ها را حساب کنیم.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3.322-3.176 = 0.146 &lt; 0.176 = 3.176 - 3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این‌بار اختلاف‌ها همان نتیجه‌ای را داد که روش ضرب روی داده‌های اصلی نتیجه داد!</a:t>
            </a:r>
            <a:endParaRPr b="0" sz="1700">
              <a:solidFill>
                <a:schemeClr val="lt1"/>
              </a:solidFill>
            </a:endParaRPr>
          </a:p>
        </p:txBody>
      </p:sp>
      <p:graphicFrame>
        <p:nvGraphicFramePr>
          <p:cNvPr id="473" name="Google Shape;473;p57"/>
          <p:cNvGraphicFramePr/>
          <p:nvPr/>
        </p:nvGraphicFramePr>
        <p:xfrm>
          <a:off x="2780525" y="232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{1C485932-9A0E-4155-8583-201AB00847F1}</a:tableStyleId>
              </a:tblPr>
              <a:tblGrid>
                <a:gridCol w="1383125"/>
                <a:gridCol w="1383125"/>
                <a:gridCol w="1383125"/>
              </a:tblGrid>
              <a:tr h="120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1404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1403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1402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3.322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3.176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4" name="Google Shape;474;p57"/>
          <p:cNvSpPr txBox="1"/>
          <p:nvPr/>
        </p:nvSpPr>
        <p:spPr>
          <a:xfrm>
            <a:off x="5274700" y="4058275"/>
            <a:ext cx="2979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Vazirmatn"/>
                <a:ea typeface="Vazirmatn"/>
                <a:cs typeface="Vazirmatn"/>
                <a:sym typeface="Vazirmatn"/>
              </a:rPr>
              <a:t>کارایی سال جدید کمتر شده است!</a:t>
            </a:r>
            <a:endParaRPr sz="1500">
              <a:solidFill>
                <a:srgbClr val="FF0000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480" name="Google Shape;480;p5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نمودار Violin-plot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82" name="Google Shape;482;p58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3" name="Google Shape;483;p58"/>
          <p:cNvSpPr txBox="1"/>
          <p:nvPr>
            <p:ph type="title"/>
          </p:nvPr>
        </p:nvSpPr>
        <p:spPr>
          <a:xfrm>
            <a:off x="4844175" y="1301250"/>
            <a:ext cx="3905700" cy="3558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نمودار Violin-plot نمایش KDE به روش Box-Plot است.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برای هر دسته توزیع‌داده‌ها توسط KDE زده‌شده و نمایش داده‌می‌شود.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</p:txBody>
      </p:sp>
      <p:pic>
        <p:nvPicPr>
          <p:cNvPr id="484" name="Google Shape;48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950" y="1702525"/>
            <a:ext cx="4352184" cy="30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490" name="Google Shape;490;p5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نمودار Violin-plot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5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92" name="Google Shape;492;p59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3" name="Google Shape;493;p59"/>
          <p:cNvSpPr txBox="1"/>
          <p:nvPr>
            <p:ph type="title"/>
          </p:nvPr>
        </p:nvSpPr>
        <p:spPr>
          <a:xfrm>
            <a:off x="960475" y="1301250"/>
            <a:ext cx="7789500" cy="3558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45720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</p:txBody>
      </p:sp>
      <p:pic>
        <p:nvPicPr>
          <p:cNvPr id="494" name="Google Shape;49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9950" y="2066375"/>
            <a:ext cx="1210550" cy="12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500" name="Google Shape;500;p6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نمودار ECDF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6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02" name="Google Shape;502;p60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3" name="Google Shape;503;p60"/>
          <p:cNvSpPr txBox="1"/>
          <p:nvPr>
            <p:ph type="title"/>
          </p:nvPr>
        </p:nvSpPr>
        <p:spPr>
          <a:xfrm>
            <a:off x="3509125" y="1301250"/>
            <a:ext cx="5240700" cy="3558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در نمودار ECDF یا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	Empirical Cumulative Distribution Function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تعیین می‌کند که به ازای هر مقدار مشخص مانند x چه درصدی از داده‌ها کمتر از x هستند.</a:t>
            </a:r>
            <a:endParaRPr b="0" sz="1700">
              <a:solidFill>
                <a:schemeClr val="lt1"/>
              </a:solidFill>
            </a:endParaRPr>
          </a:p>
        </p:txBody>
      </p:sp>
      <p:pic>
        <p:nvPicPr>
          <p:cNvPr id="504" name="Google Shape;50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675" y="2487101"/>
            <a:ext cx="3797374" cy="233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510" name="Google Shape;510;p6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نمودار ECDF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61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12" name="Google Shape;512;p61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13" name="Google Shape;513;p61"/>
          <p:cNvSpPr txBox="1"/>
          <p:nvPr>
            <p:ph type="title"/>
          </p:nvPr>
        </p:nvSpPr>
        <p:spPr>
          <a:xfrm>
            <a:off x="960475" y="1301250"/>
            <a:ext cx="7789500" cy="3558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۱. در نمودار ECDF هیچ خطای معنایی یا مقداری وجود ندارد. مانند آنچه در KDE دیده‌می‌شود.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۲. نمودار ECDF نیاز به تعیین هیچ پارامتری برای رسم ندارد.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۳. نمودار ECDF به بی‌نهایت سوال یک‌جا جواب می‌دهد.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چند درصد داده‌ها کمتر از ۱۰۰۰ هستند؟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برای این که ۹۹ درصد داده‌ها را داشته باشیم نیاز است که تا چه مقداری را نگه‌داریم؟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چند درصد داده‌ها کمتر از ۲۰۰ هستند؟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	…</a:t>
            </a:r>
            <a:endParaRPr b="0"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519" name="Google Shape;519;p6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نمودار ECDF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62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21" name="Google Shape;521;p62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22" name="Google Shape;522;p62"/>
          <p:cNvSpPr txBox="1"/>
          <p:nvPr>
            <p:ph type="title"/>
          </p:nvPr>
        </p:nvSpPr>
        <p:spPr>
          <a:xfrm>
            <a:off x="960475" y="1301250"/>
            <a:ext cx="7789500" cy="3558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۴.</a:t>
            </a:r>
            <a:r>
              <a:rPr b="0" lang="en" sz="1700">
                <a:solidFill>
                  <a:schemeClr val="lt1"/>
                </a:solidFill>
              </a:rPr>
              <a:t> نمودار ECDF به ویژه مناسب داده‌های دارای چولگی زیاد است.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۵. استفاده در مقایسه توزیع متغیر‌های مختلف و تعیین محل ایجاد تفاوت مقادیر آن‌ها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۶. تحلیل ECDF معمولا سخت‌تر از سایر نمودار‌هاست.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۷. مقادیر خاص مانند بیشینه تکرر یا میانگین یا میانه در آن به راحتی دیده‌نمی‌شود.</a:t>
            </a:r>
            <a:endParaRPr b="0"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528" name="Google Shape;528;p63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نمودار ECDF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63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30" name="Google Shape;530;p63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1" name="Google Shape;531;p63"/>
          <p:cNvSpPr txBox="1"/>
          <p:nvPr>
            <p:ph type="title"/>
          </p:nvPr>
        </p:nvSpPr>
        <p:spPr>
          <a:xfrm>
            <a:off x="960475" y="1301250"/>
            <a:ext cx="7789500" cy="3558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45720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</p:txBody>
      </p:sp>
      <p:pic>
        <p:nvPicPr>
          <p:cNvPr id="532" name="Google Shape;53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9950" y="2066375"/>
            <a:ext cx="1210550" cy="12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4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روش‌های کاربردی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543" name="Google Shape;543;p6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مقایسه متغیر‌های گسسته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65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45" name="Google Shape;545;p65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46" name="Google Shape;546;p65"/>
          <p:cNvSpPr txBox="1"/>
          <p:nvPr>
            <p:ph type="title"/>
          </p:nvPr>
        </p:nvSpPr>
        <p:spPr>
          <a:xfrm>
            <a:off x="960475" y="1301250"/>
            <a:ext cx="7789500" cy="3558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برای مقایسه متغیر‌های گسسته تکرر دو به دو مقادیر آن‌ها محاسبه می‌شود.</a:t>
            </a:r>
            <a:endParaRPr b="0" sz="1700">
              <a:solidFill>
                <a:schemeClr val="lt1"/>
              </a:solidFill>
            </a:endParaRPr>
          </a:p>
          <a:p>
            <a:pPr indent="45720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 به این کار cross-tabulation گفته میشود.</a:t>
            </a:r>
            <a:endParaRPr b="0" sz="1700">
              <a:solidFill>
                <a:schemeClr val="lt1"/>
              </a:solidFill>
            </a:endParaRPr>
          </a:p>
          <a:p>
            <a:pPr indent="457200" lvl="0" marL="45720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 سپس این مقادیر رسم می‌شوند.</a:t>
            </a:r>
            <a:endParaRPr b="0"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552" name="Google Shape;552;p6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مقایسه متغیر‌های گسسته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6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54" name="Google Shape;554;p66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5" name="Google Shape;555;p66"/>
          <p:cNvSpPr txBox="1"/>
          <p:nvPr>
            <p:ph type="title"/>
          </p:nvPr>
        </p:nvSpPr>
        <p:spPr>
          <a:xfrm>
            <a:off x="960475" y="1301250"/>
            <a:ext cx="7789500" cy="3558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45720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۱. </a:t>
            </a:r>
            <a:r>
              <a:rPr lang="en" sz="1700">
                <a:solidFill>
                  <a:schemeClr val="lt1"/>
                </a:solidFill>
              </a:rPr>
              <a:t>نمودار stacked bar:‌</a:t>
            </a:r>
            <a:r>
              <a:rPr b="0" lang="en" sz="1700">
                <a:solidFill>
                  <a:schemeClr val="lt1"/>
                </a:solidFill>
              </a:rPr>
              <a:t> مقادیر تکرار یک متغیر به ازای هر مقدار متغیر دیگر</a:t>
            </a:r>
            <a:endParaRPr b="0" sz="1700">
              <a:solidFill>
                <a:schemeClr val="lt1"/>
              </a:solidFill>
            </a:endParaRPr>
          </a:p>
          <a:p>
            <a:pPr indent="0" lvl="0" marL="45720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  <a:p>
            <a:pPr indent="0" lvl="0" marL="45720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۲.</a:t>
            </a:r>
            <a:r>
              <a:rPr lang="en" sz="1700">
                <a:solidFill>
                  <a:schemeClr val="lt1"/>
                </a:solidFill>
              </a:rPr>
              <a:t> نمودار proportional bar:</a:t>
            </a:r>
            <a:r>
              <a:rPr b="0" lang="en" sz="1700">
                <a:solidFill>
                  <a:schemeClr val="lt1"/>
                </a:solidFill>
              </a:rPr>
              <a:t> نسبت‌های</a:t>
            </a:r>
            <a:r>
              <a:rPr b="0" lang="en" sz="1700">
                <a:solidFill>
                  <a:schemeClr val="lt1"/>
                </a:solidFill>
              </a:rPr>
              <a:t> تکرار یک متغیر به ازای هر مقدار متغیر دیگر</a:t>
            </a:r>
            <a:endParaRPr b="0" sz="1700">
              <a:solidFill>
                <a:schemeClr val="lt1"/>
              </a:solidFill>
            </a:endParaRPr>
          </a:p>
          <a:p>
            <a:pPr indent="0" lvl="0" marL="45720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  <a:p>
            <a:pPr indent="0" lvl="0" marL="45720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۳. </a:t>
            </a:r>
            <a:r>
              <a:rPr lang="en" sz="1700">
                <a:solidFill>
                  <a:schemeClr val="lt1"/>
                </a:solidFill>
              </a:rPr>
              <a:t>نمودار heatmap:</a:t>
            </a:r>
            <a:r>
              <a:rPr b="0" lang="en" sz="1700">
                <a:solidFill>
                  <a:schemeClr val="lt1"/>
                </a:solidFill>
              </a:rPr>
              <a:t> مقادیر تکرار هر دو متغیر در کنار هم</a:t>
            </a:r>
            <a:endParaRPr b="0" sz="1700">
              <a:solidFill>
                <a:schemeClr val="lt1"/>
              </a:solidFill>
            </a:endParaRPr>
          </a:p>
          <a:p>
            <a:pPr indent="0" lvl="0" marL="45720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</p:txBody>
      </p:sp>
      <p:pic>
        <p:nvPicPr>
          <p:cNvPr id="556" name="Google Shape;55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100" y="3107875"/>
            <a:ext cx="1210550" cy="12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562" name="Google Shape;562;p6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نمایش سری‌های زمانی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6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64" name="Google Shape;564;p67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5" name="Google Shape;565;p67"/>
          <p:cNvSpPr txBox="1"/>
          <p:nvPr>
            <p:ph type="title"/>
          </p:nvPr>
        </p:nvSpPr>
        <p:spPr>
          <a:xfrm>
            <a:off x="960475" y="1301250"/>
            <a:ext cx="7789500" cy="3558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تحلیل داده‌های زمانی روش‌های مخصوص خود را دارد (در آینده با آن‌ها آشنا خواهیم شد)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نمودار‌های سری زمانی معمولا به شکل نمودار خطی (line plot) رسم شده و مشخصه‌های مختلف روی این خط ارائه می‌شود.</a:t>
            </a:r>
            <a:r>
              <a:rPr b="0" lang="en" sz="1700">
                <a:solidFill>
                  <a:schemeClr val="lt1"/>
                </a:solidFill>
              </a:rPr>
              <a:t> 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معمولا دو ویژگی در هر نمودار زمانی بررسی می‌شود: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1"/>
                </a:solidFill>
              </a:rPr>
              <a:t>۱. روند نمودار:</a:t>
            </a:r>
            <a:r>
              <a:rPr b="0" lang="en" sz="1700">
                <a:solidFill>
                  <a:schemeClr val="lt1"/>
                </a:solidFill>
              </a:rPr>
              <a:t> مقادیر در طول زمان زیاد می‌شوند؟ کم می‌شوند؟ یا روند خاصی ندارند؟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1"/>
                </a:solidFill>
              </a:rPr>
              <a:t>۲. تناوب: </a:t>
            </a:r>
            <a:r>
              <a:rPr b="0" lang="en" sz="1700">
                <a:solidFill>
                  <a:schemeClr val="lt1"/>
                </a:solidFill>
              </a:rPr>
              <a:t>آیا با دوره تناوب خاصی برای داده‌ها در طول زمان وجود دارد؟</a:t>
            </a:r>
            <a:endParaRPr b="0"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571" name="Google Shape;571;p6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نمایش سری‌های زمانی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6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73" name="Google Shape;573;p68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4" name="Google Shape;574;p68"/>
          <p:cNvSpPr txBox="1"/>
          <p:nvPr>
            <p:ph type="title"/>
          </p:nvPr>
        </p:nvSpPr>
        <p:spPr>
          <a:xfrm>
            <a:off x="960475" y="1301250"/>
            <a:ext cx="7789500" cy="3558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45720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</p:txBody>
      </p:sp>
      <p:pic>
        <p:nvPicPr>
          <p:cNvPr id="575" name="Google Shape;57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6725" y="2066375"/>
            <a:ext cx="1210550" cy="12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581" name="Google Shape;581;p6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نمودار جغرافیایی</a:t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6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83" name="Google Shape;583;p69"/>
          <p:cNvSpPr txBox="1"/>
          <p:nvPr>
            <p:ph type="title"/>
          </p:nvPr>
        </p:nvSpPr>
        <p:spPr>
          <a:xfrm>
            <a:off x="2107900" y="1146525"/>
            <a:ext cx="5033400" cy="639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4" name="Google Shape;584;p69"/>
          <p:cNvSpPr txBox="1"/>
          <p:nvPr>
            <p:ph type="title"/>
          </p:nvPr>
        </p:nvSpPr>
        <p:spPr>
          <a:xfrm>
            <a:off x="960475" y="1301250"/>
            <a:ext cx="7789500" cy="3558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45720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نمودار‌های جغرافیایی توزیع داده‌ها در مختصات جغرافیایی را نشان ‌می‌دهند.</a:t>
            </a:r>
            <a:endParaRPr b="0" sz="1700">
              <a:solidFill>
                <a:schemeClr val="lt1"/>
              </a:solidFill>
            </a:endParaRPr>
          </a:p>
          <a:p>
            <a:pPr indent="45720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1700">
                <a:solidFill>
                  <a:schemeClr val="lt1"/>
                </a:solidFill>
              </a:rPr>
              <a:t>یک نمونه ساده از آن را با هم می‌بینیم. 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sz="1700">
              <a:solidFill>
                <a:schemeClr val="lt1"/>
              </a:solidFill>
            </a:endParaRPr>
          </a:p>
        </p:txBody>
      </p:sp>
      <p:pic>
        <p:nvPicPr>
          <p:cNvPr id="585" name="Google Shape;58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6725" y="2803425"/>
            <a:ext cx="1210550" cy="12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591" name="Google Shape;591;p7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تمرین</a:t>
            </a:r>
            <a:endParaRPr/>
          </a:p>
          <a:p>
            <a:pPr indent="0" lvl="0" marL="0" rtl="1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7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93" name="Google Shape;593;p70"/>
          <p:cNvSpPr txBox="1"/>
          <p:nvPr/>
        </p:nvSpPr>
        <p:spPr>
          <a:xfrm>
            <a:off x="0" y="1407175"/>
            <a:ext cx="8866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Vazirmatn"/>
                <a:ea typeface="Vazirmatn"/>
                <a:cs typeface="Vazirmatn"/>
                <a:sym typeface="Vazirmatn"/>
              </a:rPr>
              <a:t>۱. ابتدا داده ها با مقدار Borough برابر با Unspecified و BRONX و داده‌ها با مقدار duration_hours &lt; 0 را حذف کرده و سپس نمودار‌های زیر را رسم کنید. (بر حسب duration_hours)</a:t>
            </a:r>
            <a:endParaRPr>
              <a:solidFill>
                <a:schemeClr val="lt1"/>
              </a:solidFill>
              <a:latin typeface="Vazirmatn"/>
              <a:ea typeface="Vazirmatn"/>
              <a:cs typeface="Vazirmatn"/>
              <a:sym typeface="Vazirmatn"/>
            </a:endParaRPr>
          </a:p>
          <a:p>
            <a:pPr indent="457200" lvl="0" marL="0" rtl="1" algn="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Vazirmatn"/>
                <a:ea typeface="Vazirmatn"/>
                <a:cs typeface="Vazirmatn"/>
                <a:sym typeface="Vazirmatn"/>
              </a:rPr>
              <a:t>الف) Box-plot</a:t>
            </a:r>
            <a:endParaRPr>
              <a:solidFill>
                <a:schemeClr val="lt1"/>
              </a:solidFill>
              <a:latin typeface="Vazirmatn"/>
              <a:ea typeface="Vazirmatn"/>
              <a:cs typeface="Vazirmatn"/>
              <a:sym typeface="Vazirmatn"/>
            </a:endParaRPr>
          </a:p>
          <a:p>
            <a:pPr indent="457200" lvl="0" marL="0" rtl="1" algn="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Vazirmatn"/>
                <a:ea typeface="Vazirmatn"/>
                <a:cs typeface="Vazirmatn"/>
                <a:sym typeface="Vazirmatn"/>
              </a:rPr>
              <a:t>ب) KDE</a:t>
            </a:r>
            <a:endParaRPr>
              <a:solidFill>
                <a:schemeClr val="lt1"/>
              </a:solidFill>
              <a:latin typeface="Vazirmatn"/>
              <a:ea typeface="Vazirmatn"/>
              <a:cs typeface="Vazirmatn"/>
              <a:sym typeface="Vazirmatn"/>
            </a:endParaRPr>
          </a:p>
          <a:p>
            <a:pPr indent="457200" lvl="0" marL="0" rtl="1" algn="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Vazirmatn"/>
                <a:ea typeface="Vazirmatn"/>
                <a:cs typeface="Vazirmatn"/>
                <a:sym typeface="Vazirmatn"/>
              </a:rPr>
              <a:t>ج) ECDF </a:t>
            </a:r>
            <a:endParaRPr>
              <a:solidFill>
                <a:schemeClr val="lt1"/>
              </a:solidFill>
              <a:latin typeface="Vazirmatn"/>
              <a:ea typeface="Vazirmatn"/>
              <a:cs typeface="Vazirmatn"/>
              <a:sym typeface="Vazirmatn"/>
            </a:endParaRPr>
          </a:p>
          <a:p>
            <a:pPr indent="457200" lvl="0" marL="0" rtl="1" algn="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Vazirmatn"/>
                <a:ea typeface="Vazirmatn"/>
                <a:cs typeface="Vazirmatn"/>
                <a:sym typeface="Vazirmatn"/>
              </a:rPr>
              <a:t>سعی کنید داده‌های پرت را از نمودار‌ها شناسایی کرده و حذف کنید و نمودار‌ها را دوباره رسم کنید.</a:t>
            </a:r>
            <a:endParaRPr>
              <a:solidFill>
                <a:schemeClr val="lt1"/>
              </a:solidFill>
              <a:latin typeface="Vazirmatn"/>
              <a:ea typeface="Vazirmatn"/>
              <a:cs typeface="Vazirmatn"/>
              <a:sym typeface="Vazirmatn"/>
            </a:endParaRPr>
          </a:p>
          <a:p>
            <a:pPr indent="457200" lvl="0" marL="0" rtl="1" algn="r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">
                <a:solidFill>
                  <a:schemeClr val="lt1"/>
                </a:solidFill>
                <a:latin typeface="Vazirmatn"/>
                <a:ea typeface="Vazirmatn"/>
                <a:cs typeface="Vazirmatn"/>
                <a:sym typeface="Vazirmatn"/>
              </a:rPr>
              <a:t>همچنین با استفاده از ECDF میانه و دهک ۸۰ و ۷۰ داده را تخمین بزنید.  </a:t>
            </a:r>
            <a:endParaRPr>
              <a:solidFill>
                <a:schemeClr val="lt1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7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 b="1"/>
          </a:p>
        </p:txBody>
      </p:sp>
      <p:sp>
        <p:nvSpPr>
          <p:cNvPr id="599" name="Google Shape;599;p7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تمرین</a:t>
            </a:r>
            <a:endParaRPr/>
          </a:p>
          <a:p>
            <a:pPr indent="0" lvl="0" marL="0" rtl="1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71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01" name="Google Shape;601;p71"/>
          <p:cNvSpPr txBox="1"/>
          <p:nvPr/>
        </p:nvSpPr>
        <p:spPr>
          <a:xfrm>
            <a:off x="0" y="1108950"/>
            <a:ext cx="88665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Vazirmatn"/>
                <a:ea typeface="Vazirmatn"/>
                <a:cs typeface="Vazirmatn"/>
                <a:sym typeface="Vazirmatn"/>
              </a:rPr>
              <a:t>۲. با رسم Proportional Bar Plot میان Borough و Complaint Type در مورد تفاوت توزیع نوع شکایت در شهر‌های مختلف تحلیل ارائه دهید.</a:t>
            </a:r>
            <a:endParaRPr>
              <a:solidFill>
                <a:schemeClr val="lt1"/>
              </a:solidFill>
              <a:latin typeface="Vazirmatn"/>
              <a:ea typeface="Vazirmatn"/>
              <a:cs typeface="Vazirmatn"/>
              <a:sym typeface="Vazirmatn"/>
            </a:endParaRPr>
          </a:p>
          <a:p>
            <a:pPr indent="457200" lvl="0" marL="0" rtl="1" algn="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Vazirmatn"/>
                <a:ea typeface="Vazirmatn"/>
                <a:cs typeface="Vazirmatn"/>
                <a:sym typeface="Vazirmatn"/>
              </a:rPr>
              <a:t>الف) سعی کنید داده‌ها را طوری تمیز‌ کنید که نمودار خوانا و مفهومی باشد. </a:t>
            </a:r>
            <a:endParaRPr>
              <a:solidFill>
                <a:schemeClr val="lt1"/>
              </a:solidFill>
              <a:latin typeface="Vazirmatn"/>
              <a:ea typeface="Vazirmatn"/>
              <a:cs typeface="Vazirmatn"/>
              <a:sym typeface="Vazirmatn"/>
            </a:endParaRPr>
          </a:p>
          <a:p>
            <a:pPr indent="457200" lvl="0" marL="0" rtl="1" algn="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Vazirmatn"/>
                <a:ea typeface="Vazirmatn"/>
                <a:cs typeface="Vazirmatn"/>
                <a:sym typeface="Vazirmatn"/>
              </a:rPr>
              <a:t>ب) با جابجایی این دو متغیر با یک‌دیگر به نمودار جدیدی می‌رسیم. آیا اطلاعات جدیدی به ما می‌دهد؟ تحلیل کنید.</a:t>
            </a:r>
            <a:endParaRPr>
              <a:solidFill>
                <a:schemeClr val="lt1"/>
              </a:solidFill>
              <a:latin typeface="Vazirmatn"/>
              <a:ea typeface="Vazirmatn"/>
              <a:cs typeface="Vazirmatn"/>
              <a:sym typeface="Vazirmatn"/>
            </a:endParaRPr>
          </a:p>
          <a:p>
            <a:pPr indent="457200" lvl="0" marL="0" rtl="1" algn="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Vazirmatn"/>
                <a:ea typeface="Vazirmatn"/>
                <a:cs typeface="Vazirmatn"/>
                <a:sym typeface="Vazirmatn"/>
              </a:rPr>
              <a:t>ج) سه عامل اصلی شکایت در شهر BROOKLIN چیست؟</a:t>
            </a:r>
            <a:endParaRPr>
              <a:solidFill>
                <a:schemeClr val="lt1"/>
              </a:solidFill>
              <a:latin typeface="Vazirmatn"/>
              <a:ea typeface="Vazirmatn"/>
              <a:cs typeface="Vazirmatn"/>
              <a:sym typeface="Vazirmatn"/>
            </a:endParaRPr>
          </a:p>
          <a:p>
            <a:pPr indent="457200" lvl="0" marL="0" rtl="1" algn="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Vazirmatn"/>
                <a:ea typeface="Vazirmatn"/>
                <a:cs typeface="Vazirmatn"/>
                <a:sym typeface="Vazirmatn"/>
              </a:rPr>
              <a:t>د) در کدام شهر بیشترین شکایت از Water - Systems شده است؟</a:t>
            </a:r>
            <a:endParaRPr>
              <a:solidFill>
                <a:schemeClr val="lt1"/>
              </a:solidFill>
              <a:latin typeface="Vazirmatn"/>
              <a:ea typeface="Vazirmatn"/>
              <a:cs typeface="Vazirmatn"/>
              <a:sym typeface="Vazirmatn"/>
            </a:endParaRPr>
          </a:p>
          <a:p>
            <a:pPr indent="457200" lvl="0" marL="0" rtl="1" algn="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Vazirmatn"/>
                <a:ea typeface="Vazirmatn"/>
                <a:cs typeface="Vazirmatn"/>
                <a:sym typeface="Vazirmatn"/>
              </a:rPr>
              <a:t>ه) برای مقایسه میزان کل شکایت دو شهر چه نموداری باید رسم کرد؟</a:t>
            </a:r>
            <a:endParaRPr>
              <a:solidFill>
                <a:schemeClr val="lt1"/>
              </a:solidFill>
              <a:latin typeface="Vazirmatn"/>
              <a:ea typeface="Vazirmatn"/>
              <a:cs typeface="Vazirmatn"/>
              <a:sym typeface="Vazirmatn"/>
            </a:endParaRPr>
          </a:p>
          <a:p>
            <a:pPr indent="457200" lvl="0" marL="0" rtl="1" algn="r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">
                <a:solidFill>
                  <a:schemeClr val="lt1"/>
                </a:solidFill>
                <a:latin typeface="Vazirmatn"/>
                <a:ea typeface="Vazirmatn"/>
                <a:cs typeface="Vazirmatn"/>
                <a:sym typeface="Vazirmatn"/>
              </a:rPr>
              <a:t>ی) اگر بخواهیم میزان شکایت از دو نوع مختلف را بین دو شهر مختلف مقایسه کنیم چه نموداری رسم کنیم؟</a:t>
            </a:r>
            <a:endParaRPr>
              <a:solidFill>
                <a:schemeClr val="lt1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azirmatn"/>
                <a:ea typeface="Vazirmatn"/>
                <a:cs typeface="Vazirmatn"/>
                <a:sym typeface="Vazirmatn"/>
              </a:rPr>
              <a:t>دوره تحلیل داده</a:t>
            </a:r>
            <a:endParaRPr/>
          </a:p>
        </p:txBody>
      </p:sp>
      <p:sp>
        <p:nvSpPr>
          <p:cNvPr id="607" name="Google Shape;607;p72"/>
          <p:cNvSpPr txBox="1"/>
          <p:nvPr>
            <p:ph type="title"/>
          </p:nvPr>
        </p:nvSpPr>
        <p:spPr>
          <a:xfrm>
            <a:off x="2919100" y="1985825"/>
            <a:ext cx="4806600" cy="109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پرسش‌و‌پاسخ</a:t>
            </a:r>
            <a:endParaRPr sz="3700"/>
          </a:p>
        </p:txBody>
      </p:sp>
      <p:sp>
        <p:nvSpPr>
          <p:cNvPr id="608" name="Google Shape;608;p72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azirmatn"/>
                <a:ea typeface="Vazirmatn"/>
                <a:cs typeface="Vazirmatn"/>
                <a:sym typeface="Vazirmatn"/>
              </a:rPr>
              <a:t>تاریخ: ۱۴۰۴/۷/۱</a:t>
            </a:r>
            <a:endParaRPr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9" name="Google Shape;609;p72"/>
          <p:cNvCxnSpPr/>
          <p:nvPr/>
        </p:nvCxnSpPr>
        <p:spPr>
          <a:xfrm rot="10800000">
            <a:off x="891200" y="3080475"/>
            <a:ext cx="7052100" cy="0"/>
          </a:xfrm>
          <a:prstGeom prst="straightConnector1">
            <a:avLst/>
          </a:prstGeom>
          <a:noFill/>
          <a:ln cap="flat" cmpd="sng" w="3810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