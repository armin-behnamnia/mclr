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INSTRUCTOR — Session 1 of 32. 60 min teaching + 60 min problem-solving.</a:t>
            </a:r>
          </a:p>
          <a:p>
            <a:r>
              <a:rPr>
                <a:latin typeface="Vazirmatn"/>
              </a:rPr>
              <a:t>BEFORE CLASS: test PART 0 demo cells; notebook runs top-to-bottom; assets exist.</a:t>
            </a:r>
          </a:p>
          <a:p>
            <a:r>
              <a:rPr>
                <a:latin typeface="Vazirmatn"/>
              </a:rPr>
              <a:t>TIMING: hook 0-5, big question 5-10, fruit game 10-20, supervised 20-30, Titanic 30-40, magic lines 40-50, quiz 50-55, handout 55-60.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[0:00] THE HOOK — run the single PART 0 demo cell, showmanship, dim lights.</a:t>
            </a:r>
          </a:p>
          <a:p>
            <a:r>
              <a:rPr>
                <a:latin typeface="Vazirmatn"/>
              </a:rPr>
              <a:t>SAY: "By the end of today, YOU will build what you are about to see."</a:t>
            </a:r>
          </a:p>
          <a:p>
            <a:r>
              <a:rPr>
                <a:latin typeface="Vazirmatn"/>
              </a:rPr>
              <a:t>FALLBACK: narrate from notes, never skip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مرحلهٔ ۱, the «جدول» marker] The 8-row table is ALL the machine sees.</a:t>
            </a:r>
          </a:p>
          <a:p>
            <a:r>
              <a:rPr>
                <a:latin typeface="Vazirmatn"/>
              </a:rPr>
              <a:t>SAY: "8 animals. Two numbers each, plus the answer. Nobody wrote a single rule."</a:t>
            </a:r>
          </a:p>
          <a:p>
            <a:r>
              <a:rPr>
                <a:latin typeface="Vazirmatn"/>
              </a:rPr>
              <a:t>EXPECT: "so what? it's just a table" — perfect, let them underestimate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مرحلهٔ ۳, the «خطِ ماشین» marker] The scatter: the machine's own red dashed line.</a:t>
            </a:r>
          </a:p>
          <a:p>
            <a:r>
              <a:rPr>
                <a:latin typeface="Vazirmatn"/>
              </a:rPr>
              <a:t>(مرحلهٔ ۲ was the silent .fit() — one invisible line of code.)</a:t>
            </a:r>
          </a:p>
          <a:p>
            <a:r>
              <a:rPr>
                <a:latin typeface="Vazirmatn"/>
              </a:rPr>
              <a:t>SAY: "No human drew this line. The machine found it hiding in those 8 rows."</a:t>
            </a:r>
          </a:p>
          <a:p>
            <a:r>
              <a:rPr>
                <a:latin typeface="Vazirmatn"/>
              </a:rPr>
              <a:t>EXPECT: "where did the line come from?!" — do NOT explain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مرحلهٔ ۴, the «امتحان با حیوانات ندیده» marker] Verdicts on unseen animals.</a:t>
            </a:r>
          </a:p>
          <a:p>
            <a:r>
              <a:rPr>
                <a:latin typeface="Vazirmatn"/>
              </a:rPr>
              <a:t>Let the puppy/elephant errors land as LAUGHS, then the cell prints the reveal: one question, weight ≤ 14 kg.</a:t>
            </a:r>
          </a:p>
          <a:p>
            <a:r>
              <a:rPr>
                <a:latin typeface="Vazirmatn"/>
              </a:rPr>
              <a:t>SAY: "It learned ONE question from 8 rows — and it still gets the puppy wrong. Learning is a guess."</a:t>
            </a:r>
          </a:p>
          <a:p>
            <a:r>
              <a:rPr>
                <a:latin typeface="Vazirmatn"/>
              </a:rPr>
              <a:t>SEED: "How does the machine pick that ONE question? Session 3 answers it — but first, Session 2."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[5:00] Segment A: rules vs learning. DRAW both boxes on the board — they stay ALL session.</a:t>
            </a:r>
          </a:p>
          <a:p>
            <a:r>
              <a:rPr>
                <a:latin typeface="Vazirmatn"/>
              </a:rPr>
              <a:t>Next slide's interaction is the core; don't lecture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Board box 1: data + RULES = answers.</a:t>
            </a:r>
          </a:p>
          <a:p>
            <a:r>
              <a:rPr>
                <a:latin typeface="Vazirmatn"/>
              </a:rPr>
              <a:t>SAY: "For 50 years, smart people wrote thousands of IF-THEN rules. Worked... until it didn't."</a:t>
            </a:r>
          </a:p>
          <a:p>
            <a:r>
              <a:rPr>
                <a:latin typeface="Vazirmatn"/>
              </a:rPr>
              <a:t>Transition: "Let's try it ourselves. Cats. Easy, right?"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INTERACTION (3-4 min): students propose cat rules, you counter each.</a:t>
            </a:r>
          </a:p>
          <a:p>
            <a:r>
              <a:rPr>
                <a:latin typeface="Vazirmatn"/>
              </a:rPr>
              <a:t>"has fur" = hairless cat; "whiskers" = walrus; "small cute" = corgi puppy.</a:t>
            </a:r>
          </a:p>
          <a:p>
            <a:r>
              <a:rPr>
                <a:latin typeface="Vazirmatn"/>
              </a:rPr>
              <a:t>Concede: "This is why we don't write rules. We show examples."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Board box 2 under box 1: data + answers = RULES — point silently.</a:t>
            </a:r>
          </a:p>
          <a:p>
            <a:r>
              <a:rPr>
                <a:latin typeface="Vazirmatn"/>
              </a:rPr>
              <a:t>REVEAL: the 8 animals WERE the examples; the red line WAS the rule.</a:t>
            </a:r>
          </a:p>
          <a:p>
            <a:r>
              <a:rPr>
                <a:latin typeface="Vazirmatn"/>
              </a:rPr>
              <a:t>CHECK: "What does the machine get, what does it produce?"</a:t>
            </a:r>
          </a:p>
          <a:p>
            <a:r>
              <a:rPr>
                <a:latin typeface="Vazirmatn"/>
              </a:rPr>
              <a:t>Return to the red line 5+ times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[~7:00] 60 seconds max. [MISCONCEPTION] AI and ML are NOT synonyms.</a:t>
            </a:r>
          </a:p>
          <a:p>
            <a:r>
              <a:rPr>
                <a:latin typeface="Vazirmatn"/>
              </a:rPr>
              <a:t>Analogy: AI = becoming a doctor (dream); ML = medical school (how).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[10:00] Segment B: fruit game. Cover the fruit column, read clues, class shouts labels. 2 min, high energy.</a:t>
            </a:r>
          </a:p>
          <a:p>
            <a:r>
              <a:rPr>
                <a:latin typeface="Vazirmatn"/>
              </a:rPr>
              <a:t>RUN cell A1: this table IS a DataFrame.</a:t>
            </a:r>
          </a:p>
          <a:p>
            <a:r>
              <a:rPr>
                <a:latin typeface="Vazirmatn"/>
              </a:rPr>
              <a:t>Next: which clue is most useful — vote.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WRITE on board (never erased): feature, label, example.</a:t>
            </a:r>
          </a:p>
          <a:p>
            <a:r>
              <a:rPr>
                <a:latin typeface="Vazirmatn"/>
              </a:rPr>
              <a:t>Hooks (from the analogy map, nothing ad-hoc): feature = a clue; label = the answer; example = one solved exercise.</a:t>
            </a:r>
          </a:p>
          <a:p>
            <a:r>
              <a:rPr>
                <a:latin typeface="Vazirmatn"/>
              </a:rPr>
              <a:t>[MISCONCEPTION] the label is hidden at quiz time, not read by the model.</a:t>
            </a:r>
          </a:p>
          <a:p>
            <a:r>
              <a:rPr>
                <a:latin typeface="Vazirmatn"/>
              </a:rPr>
              <a:t>CHECK: "3 Titanic features + the label?"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INTERACTION: hands-up vote per feature, quick debate.</a:t>
            </a:r>
          </a:p>
          <a:p>
            <a:r>
              <a:rPr>
                <a:latin typeface="Vazirmatn"/>
              </a:rPr>
              <a:t>SAY: "You just did data science. Session 9 computes this as feature importance."</a:t>
            </a:r>
          </a:p>
          <a:p>
            <a:r>
              <a:rPr>
                <a:latin typeface="Vazirmatn"/>
              </a:rPr>
              <a:t>RUN cell A2 — students record their guess (revisited in Session 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EXPERIENCE before code: the class chains its own guesses.</a:t>
            </a:r>
          </a:p>
          <a:p>
            <a:r>
              <a:rPr>
                <a:latin typeface="Vazirmatn"/>
              </a:rPr>
              <a:t>DRAW with them: "red? apple. not red, long? banana. else grapes."</a:t>
            </a:r>
          </a:p>
          <a:p>
            <a:r>
              <a:rPr>
                <a:latin typeface="Vazirmatn"/>
              </a:rPr>
              <a:t>The decision tree arrives INTUITIVELY. The NAME is withheld until Session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SHOW the fruit decision map. TRACE one fruit together: purple, small, wrinkly -&gt; grapes.</a:t>
            </a:r>
          </a:p>
          <a:p>
            <a:r>
              <a:rPr>
                <a:latin typeface="Vazirmatn"/>
              </a:rPr>
              <a:t>[HONESTY BEAT — do it!] The map MISJUDGES 2 of the 6 fruits in A1's own table:</a:t>
            </a:r>
          </a:p>
          <a:p>
            <a:r>
              <a:rPr>
                <a:latin typeface="Vazirmatn"/>
              </a:rPr>
              <a:t>the green medium apple (map says grapes) and the yellow medium banana (map says grapes).</a:t>
            </a:r>
          </a:p>
          <a:p>
            <a:r>
              <a:rPr>
                <a:latin typeface="Vazirmatn"/>
              </a:rPr>
              <a:t>Trace the green apple on purpose, hit the wrong room, and SAY: "Our hand-drawn rules</a:t>
            </a:r>
          </a:p>
          <a:p>
            <a:r>
              <a:rPr>
                <a:latin typeface="Vazirmatn"/>
              </a:rPr>
              <a:t>already fail on 2 fruits out of 6 — now imagine 8 million pictures. THIS is why</a:t>
            </a:r>
          </a:p>
          <a:p>
            <a:r>
              <a:rPr>
                <a:latin typeface="Vazirmatn"/>
              </a:rPr>
              <a:t>the machine learns the map FROM the data instead." (This seed becomes Session 2's hook.)</a:t>
            </a:r>
          </a:p>
          <a:p>
            <a:r>
              <a:rPr>
                <a:latin typeface="Vazirmatn"/>
              </a:rPr>
              <a:t>SAY: "A human drew this. Next session: the MACHINE draws its own map — by itself."</a:t>
            </a:r>
          </a:p>
          <a:p>
            <a:r>
              <a:rPr>
                <a:latin typeface="Vazirmatn"/>
              </a:rPr>
              <a:t>DO NOT say "decision tree"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[20:00] Segment C. LIVE MINI-GAME: 4 solved fruit examples, then a 5th with hidden label — class predicts.</a:t>
            </a:r>
          </a:p>
          <a:p>
            <a:r>
              <a:rPr>
                <a:latin typeface="Vazirmatn"/>
              </a:rPr>
              <a:t>The picture IS the concept: LEFT table = study with the answer key, RIGHT table = the new exam, answers hidden.</a:t>
            </a:r>
          </a:p>
          <a:p>
            <a:r>
              <a:rPr>
                <a:latin typeface="Vazirmatn"/>
              </a:rPr>
              <a:t>SAY: "You just did supervised learning. Personally."</a:t>
            </a:r>
          </a:p>
          <a:p>
            <a:r>
              <a:rPr>
                <a:latin typeface="Vazirmatn"/>
              </a:rPr>
              <a:t>RUN cell A3: study table vs quiz table — the code version of exactly this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[MISCONCEPTION] "supervised" does NOT mean a person watches the model — the data has answers.</a:t>
            </a:r>
          </a:p>
          <a:p>
            <a:r>
              <a:rPr>
                <a:latin typeface="Vazirmatn"/>
              </a:rPr>
              <a:t>Use the laugh, then CHECK: "Why 'supervised'?" — examples come with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[30:00] Segment D: Titanic as pictures. Students follow cells A4-A6.</a:t>
            </a:r>
          </a:p>
          <a:p>
            <a:r>
              <a:rPr>
                <a:latin typeface="Vazirmatn"/>
              </a:rPr>
              <a:t>NARRATE THE HISTORY while plotting — the story is the engine.</a:t>
            </a:r>
          </a:p>
          <a:p>
            <a:r>
              <a:rPr>
                <a:latin typeface="Vazirmatn"/>
              </a:rPr>
              <a:t>A4: 891 passengers in the raw file; the cell prints that only the 712 rows with</a:t>
            </a:r>
          </a:p>
          <a:p>
            <a:r>
              <a:rPr>
                <a:latin typeface="Vazirmatn"/>
              </a:rPr>
              <a:t>COMPLETE info teach the model. 10-second beat: "real data has holes — we keep the complete rows."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A5] More died than survived — 424 vs 288 of the 712 complete rows.</a:t>
            </a:r>
          </a:p>
          <a:p>
            <a:r>
              <a:rPr>
                <a:latin typeface="Vazirmatn"/>
              </a:rPr>
              <a:t>RULE (course-wide): every dataset gets PLOTTED before MODELED.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A6] THE PUNCHLINE PLOTS. Let students read the bars first.</a:t>
            </a:r>
          </a:p>
          <a:p>
            <a:r>
              <a:rPr>
                <a:latin typeface="Vazirmatn"/>
              </a:rPr>
              <a:t>ASK: "Which feature matters for survival?" — gender, then class.</a:t>
            </a:r>
          </a:p>
          <a:p>
            <a:r>
              <a:rPr>
                <a:latin typeface="Vazirmatn"/>
              </a:rPr>
              <a:t>SAY: "A rich woman in 1912 had close to a survival ticket."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[40:00] Segment E — emotional peak. Students TYPE ALONG cells A7-A9 (not just watch).</a:t>
            </a:r>
          </a:p>
          <a:p>
            <a:r>
              <a:rPr>
                <a:latin typeface="Vazirmatn"/>
              </a:rPr>
              <a:t>A7: X and y separated — "line 0 is setup, not magic."</a:t>
            </a:r>
          </a:p>
          <a:p>
            <a:r>
              <a:rPr>
                <a:latin typeface="Vazirmatn"/>
              </a:rPr>
              <a:t>CEREMONY before fit(): "On three, everyone say LEARN."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A8, students typing] Write the 3 lines LARGE on the board.</a:t>
            </a:r>
          </a:p>
          <a:p>
            <a:r>
              <a:rPr>
                <a:latin typeface="Vazirmatn"/>
              </a:rPr>
              <a:t>create = pick a student; fit = let it study; predict = ask, label hidden.</a:t>
            </a:r>
          </a:p>
          <a:p>
            <a:r>
              <a:rPr>
                <a:latin typeface="Vazirmatn"/>
              </a:rPr>
              <a:t>SAY: "Every model you'll ever meet follows these three lines."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A9] Predict for a volunteer: "Would Sara, 2nd class, age 13, survive?"</a:t>
            </a:r>
          </a:p>
          <a:p>
            <a:r>
              <a:rPr>
                <a:latin typeface="Vazirmatn"/>
              </a:rPr>
              <a:t>Tree picture: "Your fruit map from 15 minutes ago? Same shape — the machine drew its own."</a:t>
            </a:r>
          </a:p>
          <a:p>
            <a:r>
              <a:rPr>
                <a:latin typeface="Vazirmatn"/>
              </a:rPr>
              <a:t>Who chose the questions? The machine did — cliffhanger for Session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Slow, quiet, honest moment.</a:t>
            </a:r>
          </a:p>
          <a:p>
            <a:r>
              <a:rPr>
                <a:latin typeface="Vazirmatn"/>
              </a:rPr>
              <a:t>SAY: "A mirror of 712 examples. Good data, good mirror. Unfair data, unfair mirror."</a:t>
            </a:r>
          </a:p>
          <a:p>
            <a:r>
              <a:rPr>
                <a:latin typeface="Vazirmatn"/>
              </a:rPr>
              <a:t>Then snap energy back up for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[50:00] CONSOLIDATION — cold call, friendly. One question per student:</a:t>
            </a:r>
          </a:p>
          <a:p>
            <a:r>
              <a:rPr>
                <a:latin typeface="Vazirmatn"/>
              </a:rPr>
              <a:t>get+produce? feature/label? 3 magic lines? why women survived?</a:t>
            </a:r>
          </a:p>
          <a:p>
            <a:r>
              <a:rPr>
                <a:latin typeface="Vazirmatn"/>
              </a:rPr>
              <a:t>If anyone stumbles on Q1-3, re-explain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[55:00] THE SHIP + handout. Explain the loop OUT LOUD:</a:t>
            </a:r>
          </a:p>
          <a:p>
            <a:r>
              <a:rPr>
                <a:latin typeface="Vazirmatn"/>
              </a:rPr>
              <a:t>4 problems tonight (20-30 min) = next session we solve them TOGETHER from YOUR attempts.</a:t>
            </a:r>
          </a:p>
          <a:p>
            <a:r>
              <a:rPr>
                <a:latin typeface="Vazirmatn"/>
              </a:rPr>
              <a:t>Judge: python judge/run.py s01_notebook.ipynb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One sentence of story per problem:</a:t>
            </a:r>
          </a:p>
          <a:p>
            <a:r>
              <a:rPr>
                <a:latin typeface="Vazirmatn"/>
              </a:rPr>
              <a:t>B1 dumb features under scrutiny; B2 invent your own dataset; B3 magic lines on YOUR data; B4 the 12-year-old boy verdict.</a:t>
            </a:r>
          </a:p>
          <a:p>
            <a:r>
              <a:rPr>
                <a:latin typeface="Vazirmatn"/>
              </a:rPr>
              <a:t>Deadline: before the problem-solving session. ~20-30 min total. First judge run is all-red — that's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[60:00 — end on time] "Tonight your repo goes live. Show your family: I built an AI today."</a:t>
            </a:r>
          </a:p>
          <a:p>
            <a:r>
              <a:rPr>
                <a:latin typeface="Vazirmatn"/>
              </a:rPr>
              <a:t>CLIFFHANGER: "Who chose the tree's questions? Next time: you fix the machine's mistakes."</a:t>
            </a:r>
          </a:p>
          <a:p>
            <a:r>
              <a:rPr>
                <a:latin typeface="Vazirmatn"/>
              </a:rPr>
              <a:t>AFTER CLASS (48h): fill the retro note in the session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یادگیری ماشین چیست؟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>
                <a:solidFill>
                  <a:srgbClr val="3C4043"/>
                </a:solidFill>
                <a:latin typeface="Vazirmatn"/>
              </a:rPr>
              <a:t>روز اول — تو یک هوش مصنوعی می‌سازی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بخش ۱ · جلسهٔ 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تا پایان امروز، تو یک مدل یادگیری ماشین آموزش می‌دهی.</a:t>
            </a:r>
          </a:p>
        </p:txBody>
      </p:sp>
      <p:pic>
        <p:nvPicPr>
          <p:cNvPr id="7" name="Picture 6" descr="share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 /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نمایش ویژهٔ هوش مصنوعی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یک دمو. یک خطِ قرمز. یک سؤال.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خوب نگاه کن.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بازیِ حیوانات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فقط این را می‌بیند: ۸ حیوان با برچسب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هر حیوان = دو عدد (وزن، طول گوش) + یک پاسخ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هیچ قانونی به آن داده نشده. هیچ.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خطِ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از دلِ همان ۸ سطر، ماشین خودش یک خط کشید.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پشتِ خط: گربه‌ها. جلوی خط: سگ‌ها.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«این خط را چه کسی کشید؟!»</a:t>
            </a:r>
          </a:p>
        </p:txBody>
      </p:sp>
      <p:pic>
        <p:nvPicPr>
          <p:cNvPr id="7" name="Picture 6" descr="animal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حالا امتحانش کنیم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حیواناتی که ماشین هرگز ندیده: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گرگ ← سگ. گربهٔ همسایه ← گربه. درست!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توله‌سگ ← گربه؟! فیل ← سگ؟!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کل رازش فقط یک سؤال بود: «وزن ⁦≤ ۱۴⁩ کیلوگرم؟»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سؤال بزرگ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چطور یک کامپیوتر را باهوش کنیم؟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راه اول — روش قدیمی: نوشتن قاعده‌ها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داده + قاعده‌ها ← پاسخ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انسان هر قاعده را با دست می‌نویسد.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«اگر سبیل داشت و خرخر می‌کرد، پس گربه است»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مشکل نوشتن قاعده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حالا نوبت شماست: قاعده‌هایی بنویسید که گربه را بشناسد.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گربهٔ بدون مو؟ گربه در لباس؟ حیوان کوچک؟!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هیچ‌کس نمی‌تواند به‌اندازهٔ کافی قاعده بنویسد!</a:t>
            </a:r>
          </a:p>
        </p:txBody>
      </p:sp>
      <p:pic>
        <p:nvPicPr>
          <p:cNvPr id="7" name="Picture 6" descr="cat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7" y="1005840"/>
            <a:ext cx="420624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راه ۲ — یادگیری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داده + پاسخ‌ها ← قاعده‌ها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قاعده را کشف می‌کند.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همان خطِ قرمزِ اولِ جلسه.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هوش مصنوعی در برابر یادگیری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هوش مصنوعی (AI) = آرزوی بزرگ: ماشینِ هوشمند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یادگیری ماشین (ML) = راهِ رسیدن به آن آرزو: یادگیری از داده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بازی میوه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463040"/>
          <a:ext cx="10362895" cy="164592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90723"/>
                <a:gridCol w="2590723"/>
                <a:gridCol w="2590723"/>
                <a:gridCol w="2590726"/>
              </a:tblGrid>
              <a:tr h="411480"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رنگ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اندازه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بافت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← میوه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قرمز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متوسط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صاف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؟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زرد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دراز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صاف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؟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بنفش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ریز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چروک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246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ستون پاسخ را بپوشان. از سرنخ‌ها میوه را حدس بزن.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واژگان جدید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ویژگی (Feature) = سرنخ (یک ستون)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برچسب (Label) = پاسخ (ستونی که پیش‌بینی می‌کنیم)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نمونه (Example) = یک سطر = سرنخ‌ها + پاسخ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کدام ویژگی مهم است؟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رنگ؟ اندازه؟ بافت؟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کدام سرنخ برای حدس زدن میوه بهتر جواب می‌دهد؟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(رأی بدهید. مناقشه کنید. جواب غلطی وجود ندارد — هنوز.)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سؤال‌های پشتِ سرِ هم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حدس‌هایتان را به یک زنجیره بگذارید: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اول رنگ را بپرس، بعد اندازه را.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یک نقشهٔ تصمیم — با دست، بدون هیچ کدی.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نقشهٔ تصمیمِ میوه</a:t>
            </a:r>
          </a:p>
        </p:txBody>
      </p:sp>
      <p:pic>
        <p:nvPicPr>
          <p:cNvPr id="4" name="Picture 3" descr="fruit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855" y="1005840"/>
            <a:ext cx="672998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همان حدس‌های خودتان — فقط مرتب شده.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یادگیری نظارت‌شده (Supervised Learning)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یادگیری از نمونه‌هایی که پاسخ دارند.</a:t>
            </a:r>
          </a:p>
        </p:txBody>
      </p:sp>
      <p:pic>
        <p:nvPicPr>
          <p:cNvPr id="5" name="Picture 4" descr="supervised_study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8" cy="32080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چرا «نظارت‌شده»؟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هیچ انسانی مدل را تماشا نمی‌کند!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یعنی داده‌ها پاسخ دارند.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(تاریخ یک کلمهٔ عجیب انتخاب کرده.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تایتانیک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۸۹۱ مسافر، ۸۹۱ سطر.</a:t>
            </a:r>
          </a:p>
        </p:txBody>
      </p:sp>
      <p:pic>
        <p:nvPicPr>
          <p:cNvPr id="5" name="Picture 4" descr="titanic_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هر سطر، یک زندگی است؛ هر ستون، یک سرنخ.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اگر جای آن‌ها بودی، زنده می‌ماندی؟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داده به‌صورت عکس</a:t>
            </a:r>
          </a:p>
        </p:txBody>
      </p:sp>
      <p:pic>
        <p:nvPicPr>
          <p:cNvPr id="4" name="Picture 3" descr="survival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832" y="1005840"/>
            <a:ext cx="728003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همیشه قبل از هر کاری، داده‌ات را ببین.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بقا بر حسب جنسیت و کلاس</a:t>
            </a:r>
          </a:p>
        </p:txBody>
      </p:sp>
      <p:pic>
        <p:nvPicPr>
          <p:cNvPr id="4" name="Picture 3" descr="survival_by_sex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9992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حدود ۷۵٪ زنان زنده ماندند؛ اما فقط ۲۰٪ از مردان.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لحظهٔ جادویی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در ۳ خط، یک هوش مصنوعی بساز</a:t>
            </a:r>
          </a:p>
        </p:txBody>
      </p:sp>
      <p:pic>
        <p:nvPicPr>
          <p:cNvPr id="5" name="Picture 4" descr="magic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با من تایپ کن. واقعاً — نت‌بوک را باز کن و تایپ کن.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سه خط جادویی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چه چیزی یاد گرفت؟</a:t>
            </a:r>
          </a:p>
        </p:txBody>
      </p:sp>
      <p:pic>
        <p:nvPicPr>
          <p:cNvPr id="4" name="Picture 3" descr="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39499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همان طور که می‌بینی فقط چند سؤال ساده است؛ حتی خودت هم می‌توانستی بکشیش.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A3A66"/>
                </a:solidFill>
                <a:latin typeface="Vazirmatn"/>
              </a:rPr>
              <a:t>یک حرف آخر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این مدل یک مغز نیست.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فقط الگویی از سؤال‌ها پیدا کرده که با بقا جور در می‌آید.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 همین، خودش شگفت‌انگیز است.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pic>
        <p:nvPicPr>
          <p:cNvPr id="3" name="Picture 2" descr="share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1874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امروز یاد گرفتی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قاعده ← پاسخ، یا پاسخ ← قاعده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ویژگی (سرنخ) و برچسب (پاسخ)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یادگیری نظارت‌شده = نمونه‌های همراه با پاسخ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سه خط جادویی: بساز ← یاد بده ← پیش‌بینی کن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تحویل امشب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اولین نت‌بوک یادگیری ماشین‌ات ← مخزن گیت‌هاب تو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«اگر آن روز سرِ تایتانیک بودم، زنده می‌ماندم؟» — مدلی که خودت ساختی جواب می‌دهد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تمرین‌های خانه (۴ تا)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B1 کارآگاه ویژگی‌ها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B2 دیتاست خودت را بساز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B3 سه خط جادویی روی حیوانات خودت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B4 پیش‌بینی‌گر بقا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python judge/run.py s01_notebook.ipynb ← نمرهٔ فوری، هر وقت خواستی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جلسهٔ بعد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تمرین‌هایت را همان‌جا، با هم حل می‌کنیم.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حتی کدهای خراب را بیاور — آن‌ها سوختِ جلسهٔ بعدی است.</a:t>
            </a:r>
          </a:p>
        </p:txBody>
      </p:sp>
      <p:pic>
        <p:nvPicPr>
          <p:cNvPr id="6" name="Picture 5" descr="shared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