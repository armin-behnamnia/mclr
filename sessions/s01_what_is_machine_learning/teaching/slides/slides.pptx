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INSTRUCTOR — Session 1 of 32. 60 min teaching + 60 min problem-solving.</a:t>
            </a:r>
          </a:p>
          <a:p>
            <a:r>
              <a:rPr>
                <a:latin typeface="Vazirmatn"/>
              </a:rPr>
              <a:t>BEFORE CLASS: test PART 0 demo cells; notebook runs top-to-bottom; assets exist.</a:t>
            </a:r>
          </a:p>
          <a:p>
            <a:r>
              <a:rPr>
                <a:latin typeface="Vazirmatn"/>
              </a:rPr>
              <a:t>TIMING: hook 0-5, big question 5-10, fruit game 10-20, supervised 20-30, Titanic 30-40, magic lines 40-50, quiz 50-55, handout 55-60.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[0:00] THE HOOK — run the single PART 0 demo cell, showmanship, dim lights.</a:t>
            </a:r>
          </a:p>
          <a:p>
            <a:r>
              <a:rPr>
                <a:latin typeface="Vazirmatn"/>
              </a:rPr>
              <a:t>SAY: "By the end of today, YOU will build what you are about to see."</a:t>
            </a:r>
          </a:p>
          <a:p>
            <a:r>
              <a:rPr>
                <a:latin typeface="Vazirmatn"/>
              </a:rPr>
              <a:t>FALLBACK: narrate from notes, never skip the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PART 0 demo cell, stage 1] Show the 8-row table — this is ALL the machine sees.</a:t>
            </a:r>
          </a:p>
          <a:p>
            <a:r>
              <a:rPr>
                <a:latin typeface="Vazirmatn"/>
              </a:rPr>
              <a:t>SAY: "8 animals. Two numbers each, plus the answer. Nobody wrote a single rule."</a:t>
            </a:r>
          </a:p>
          <a:p>
            <a:r>
              <a:rPr>
                <a:latin typeface="Vazirmatn"/>
              </a:rPr>
              <a:t>EXPECT: "so what? it's just a table" — perfect, let them underestimate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PART 0 demo cell, stage 3 — the scatter plot] The machine draws its own red dashed line.</a:t>
            </a:r>
          </a:p>
          <a:p>
            <a:r>
              <a:rPr>
                <a:latin typeface="Vazirmatn"/>
              </a:rPr>
              <a:t>SAY: "No human drew this line. The machine found it in those 8 rows."</a:t>
            </a:r>
          </a:p>
          <a:p>
            <a:r>
              <a:rPr>
                <a:latin typeface="Vazirmatn"/>
              </a:rPr>
              <a:t>EXPECT: "where did the line come from?!" — do NOT explain yet. Slide 9 answers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PART 0 demo cell, stage 4] Wolf right, neighbor cat right... PUPPY = cat (WRONG! it's a 2kg dog). ELEPHANT = dog (it only knows two words — laugh).</a:t>
            </a:r>
          </a:p>
          <a:p>
            <a:r>
              <a:rPr>
                <a:latin typeface="Vazirmatn"/>
              </a:rPr>
              <a:t>THE MONEY MOMENT: "The line is a GUESS from 8 examples. Near the line, the guess breaks. More examples = better line — that's Session 2."</a:t>
            </a:r>
          </a:p>
          <a:p>
            <a:r>
              <a:rPr>
                <a:latin typeface="Vazirmatn"/>
              </a:rPr>
              <a:t>CLOSING: "One idea behind all of this. You'll build your own before you leave today."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[5:00] Segment A: rules vs learning. DRAW both boxes on the board — they stay ALL session.</a:t>
            </a:r>
          </a:p>
          <a:p>
            <a:r>
              <a:rPr>
                <a:latin typeface="Vazirmatn"/>
              </a:rPr>
              <a:t>Next slide's interaction is the core; don't lecture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Board box 1: data + RULES = answers.</a:t>
            </a:r>
          </a:p>
          <a:p>
            <a:r>
              <a:rPr>
                <a:latin typeface="Vazirmatn"/>
              </a:rPr>
              <a:t>SAY: "For 50 years, smart people wrote thousands of IF-THEN rules. Worked... until it didn't."</a:t>
            </a:r>
          </a:p>
          <a:p>
            <a:r>
              <a:rPr>
                <a:latin typeface="Vazirmatn"/>
              </a:rPr>
              <a:t>Transition: "Let's try it ourselves. Cats. Easy, right?"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INTERACTION (3-4 min): students propose cat rules, you counter each.</a:t>
            </a:r>
          </a:p>
          <a:p>
            <a:r>
              <a:rPr>
                <a:latin typeface="Vazirmatn"/>
              </a:rPr>
              <a:t>"has fur" = hairless cat; "whiskers" = walrus; "small cute" = corgi puppy.</a:t>
            </a:r>
          </a:p>
          <a:p>
            <a:r>
              <a:rPr>
                <a:latin typeface="Vazirmatn"/>
              </a:rPr>
              <a:t>Concede: "This is why we don't write rules. We show examples."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THE REVEAL — point back at the hook: those 8 animals WERE the examples with answers; the red line WAS the rule it discovered. The mystery is solved.</a:t>
            </a:r>
          </a:p>
          <a:p>
            <a:r>
              <a:rPr>
                <a:latin typeface="Vazirmatn"/>
              </a:rPr>
              <a:t>Board box 2 under box 1: data + answers = RULES.</a:t>
            </a:r>
          </a:p>
          <a:p>
            <a:r>
              <a:rPr>
                <a:latin typeface="Vazirmatn"/>
              </a:rPr>
              <a:t>CHECK (cold call): "What does the machine get and produce?" — examples with answers = rules.</a:t>
            </a:r>
          </a:p>
          <a:p>
            <a:r>
              <a:rPr>
                <a:latin typeface="Vazirmatn"/>
              </a:rPr>
              <a:t>Point back to the red line at least 5 times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[~7:00] 60 seconds max. [MISCONCEPTION] AI and ML are NOT synonyms.</a:t>
            </a:r>
          </a:p>
          <a:p>
            <a:r>
              <a:rPr>
                <a:latin typeface="Vazirmatn"/>
              </a:rPr>
              <a:t>Analogy: AI = becoming a doctor (dream); ML = medical school (how).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[10:00] Segment B: fruit game. Cover the fruit column, read clues, class shouts labels. 2 min, high energy.</a:t>
            </a:r>
          </a:p>
          <a:p>
            <a:r>
              <a:rPr>
                <a:latin typeface="Vazirmatn"/>
              </a:rPr>
              <a:t>RUN cell A1: this table IS a DataFrame.</a:t>
            </a:r>
          </a:p>
          <a:p>
            <a:r>
              <a:rPr>
                <a:latin typeface="Vazirmatn"/>
              </a:rPr>
              <a:t>Next: which clue is most useful —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WRITE on board (never erased): feature, label, example.</a:t>
            </a:r>
          </a:p>
          <a:p>
            <a:r>
              <a:rPr>
                <a:latin typeface="Vazirmatn"/>
              </a:rPr>
              <a:t>Hooks: feature = fingerprint; label = the answer; example = one solved exercise.</a:t>
            </a:r>
          </a:p>
          <a:p>
            <a:r>
              <a:rPr>
                <a:latin typeface="Vazirmatn"/>
              </a:rPr>
              <a:t>[MISCONCEPTION] the label is hidden at quiz time, not read by the model.</a:t>
            </a:r>
          </a:p>
          <a:p>
            <a:r>
              <a:rPr>
                <a:latin typeface="Vazirmatn"/>
              </a:rPr>
              <a:t>CHECK: "3 Titanic features + the label?"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INTERACTION: hands-up vote per feature, quick debate.</a:t>
            </a:r>
          </a:p>
          <a:p>
            <a:r>
              <a:rPr>
                <a:latin typeface="Vazirmatn"/>
              </a:rPr>
              <a:t>SAY: "You just did data science. Session 9 computes this as feature importance."</a:t>
            </a:r>
          </a:p>
          <a:p>
            <a:r>
              <a:rPr>
                <a:latin typeface="Vazirmatn"/>
              </a:rPr>
              <a:t>RUN cell A2 — students record their guess (revisited in Session 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[20:00] Segment C. LIVE MINI-GAME: 4 solved fruit examples, then a 5th with hidden label — class predicts.</a:t>
            </a:r>
          </a:p>
          <a:p>
            <a:r>
              <a:rPr>
                <a:latin typeface="Vazirmatn"/>
              </a:rPr>
              <a:t>SAY: "You just did supervised learning. Personally."</a:t>
            </a:r>
          </a:p>
          <a:p>
            <a:r>
              <a:rPr>
                <a:latin typeface="Vazirmatn"/>
              </a:rPr>
              <a:t>RUN cell A3: study table vs quiz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[MISCONCEPTION] "supervised" does NOT mean a person watches the model — the data has answers.</a:t>
            </a:r>
          </a:p>
          <a:p>
            <a:r>
              <a:rPr>
                <a:latin typeface="Vazirmatn"/>
              </a:rPr>
              <a:t>Use the laugh, then CHECK: "Why 'supervised'?" — examples come with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[30:00] Segment D: Titanic as pictures. Students follow cells A4-A6.</a:t>
            </a:r>
          </a:p>
          <a:p>
            <a:r>
              <a:rPr>
                <a:latin typeface="Vazirmatn"/>
              </a:rPr>
              <a:t>NARRATE THE HISTORY while plotting — the story is the engine.</a:t>
            </a:r>
          </a:p>
          <a:p>
            <a:r>
              <a:rPr>
                <a:latin typeface="Vazirmatn"/>
              </a:rPr>
              <a:t>A4: 891 passengers, each row a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 cell A5] More died than survived — 549 vs 342.</a:t>
            </a:r>
          </a:p>
          <a:p>
            <a:r>
              <a:rPr>
                <a:latin typeface="Vazirmatn"/>
              </a:rPr>
              <a:t>RULE (course-wide): every dataset gets PLOTTED before MODELED.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 cell A6] THE PUNCHLINE PLOTS. Let students read the bars first.</a:t>
            </a:r>
          </a:p>
          <a:p>
            <a:r>
              <a:rPr>
                <a:latin typeface="Vazirmatn"/>
              </a:rPr>
              <a:t>ASK: "Which feature matters for survival?" — sex, then class.</a:t>
            </a:r>
          </a:p>
          <a:p>
            <a:r>
              <a:rPr>
                <a:latin typeface="Vazirmatn"/>
              </a:rPr>
              <a:t>SAY: "A rich woman in 1912 had close to a survival ticket."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[40:00] Segment E — emotional peak. Students TYPE ALONG cells A7-A9 (not just watch).</a:t>
            </a:r>
          </a:p>
          <a:p>
            <a:r>
              <a:rPr>
                <a:latin typeface="Vazirmatn"/>
              </a:rPr>
              <a:t>A7: X and y separated — "line 0 is setup, not magic."</a:t>
            </a:r>
          </a:p>
          <a:p>
            <a:r>
              <a:rPr>
                <a:latin typeface="Vazirmatn"/>
              </a:rPr>
              <a:t>CEREMONY before fit(): "On three, everyone say LEARN."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 cell A8, students typing] Write the 3 lines LARGE on the board.</a:t>
            </a:r>
          </a:p>
          <a:p>
            <a:r>
              <a:rPr>
                <a:latin typeface="Vazirmatn"/>
              </a:rPr>
              <a:t>create = pick a student; fit = let it study; predict = ask, label hidden.</a:t>
            </a:r>
          </a:p>
          <a:p>
            <a:r>
              <a:rPr>
                <a:latin typeface="Vazirmatn"/>
              </a:rPr>
              <a:t>SAY: "Every model you'll ever meet follows these three lines."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 cell A9] Predict for a volunteer: "Would Sara, 2nd class, age 13, survive?"</a:t>
            </a:r>
          </a:p>
          <a:p>
            <a:r>
              <a:rPr>
                <a:latin typeface="Vazirmatn"/>
              </a:rPr>
              <a:t>Then the tree picture: "Just yes/no questions. You could draw this.</a:t>
            </a:r>
          </a:p>
          <a:p>
            <a:r>
              <a:rPr>
                <a:latin typeface="Vazirmatn"/>
              </a:rPr>
              <a:t>Who chose the questions? The machine did."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Slow, quiet, honest moment.</a:t>
            </a:r>
          </a:p>
          <a:p>
            <a:r>
              <a:rPr>
                <a:latin typeface="Vazirmatn"/>
              </a:rPr>
              <a:t>SAY: "A mirror of 714 examples. Good data, good mirror. Unfair data, unfair mirror."</a:t>
            </a:r>
          </a:p>
          <a:p>
            <a:r>
              <a:rPr>
                <a:latin typeface="Vazirmatn"/>
              </a:rPr>
              <a:t>Then snap energy back up for the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[50:00] CONSOLIDATION — cold call, friendly. One question per student:</a:t>
            </a:r>
          </a:p>
          <a:p>
            <a:r>
              <a:rPr>
                <a:latin typeface="Vazirmatn"/>
              </a:rPr>
              <a:t>get+produce? feature/label? 3 magic lines? why women survived?</a:t>
            </a:r>
          </a:p>
          <a:p>
            <a:r>
              <a:rPr>
                <a:latin typeface="Vazirmatn"/>
              </a:rPr>
              <a:t>If anyone stumbles on Q1-3, re-explain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[55:00] THE SHIP + handout. Explain the loop OUT LOUD:</a:t>
            </a:r>
          </a:p>
          <a:p>
            <a:r>
              <a:rPr>
                <a:latin typeface="Vazirmatn"/>
              </a:rPr>
              <a:t>4 problems tonight (20-30 min) = next session we solve them TOGETHER from YOUR attempts.</a:t>
            </a:r>
          </a:p>
          <a:p>
            <a:r>
              <a:rPr>
                <a:latin typeface="Vazirmatn"/>
              </a:rPr>
              <a:t>Judge: python judge/run.py s01_notebook.ipynb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One sentence of story per problem:</a:t>
            </a:r>
          </a:p>
          <a:p>
            <a:r>
              <a:rPr>
                <a:latin typeface="Vazirmatn"/>
              </a:rPr>
              <a:t>B1 dumb features under scrutiny; B2 invent your own dataset; B3 magic lines on YOUR data; B4 the 12-year-old boy verdict.</a:t>
            </a:r>
          </a:p>
          <a:p>
            <a:r>
              <a:rPr>
                <a:latin typeface="Vazirmatn"/>
              </a:rPr>
              <a:t>Deadline: before the problem-solving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[60:00 — end on time] "Tonight your repo goes live. Show your family: I built an AI today."</a:t>
            </a:r>
          </a:p>
          <a:p>
            <a:r>
              <a:rPr>
                <a:latin typeface="Vazirmatn"/>
              </a:rPr>
              <a:t>CLIFFHANGER: "Who chose the tree's questions? Next time: you fix the machine's mistakes."</a:t>
            </a:r>
          </a:p>
          <a:p>
            <a:r>
              <a:rPr>
                <a:latin typeface="Vazirmatn"/>
              </a:rPr>
              <a:t>AFTER CLASS (48h): fill the retro note in the session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CC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000" b="1">
                <a:solidFill>
                  <a:srgbClr val="3C4043"/>
                </a:solidFill>
                <a:latin typeface="Vazirmatn"/>
              </a:rPr>
              <a:t>یادگیری ماشین چیست؟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>
                <a:solidFill>
                  <a:srgbClr val="3C4043"/>
                </a:solidFill>
                <a:latin typeface="Vazirmatn"/>
              </a:rPr>
              <a:t>روز اول — تو یک هوش مصنوعی می‌سازی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بخش ۱ · جلسهٔ 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تا پایان امروز، تو یک مدل یادگیری ماشین آموزش می‌دهی.</a:t>
            </a:r>
          </a:p>
        </p:txBody>
      </p:sp>
      <p:pic>
        <p:nvPicPr>
          <p:cNvPr id="7" name="Picture 6" descr="share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28117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نمایش ویژهٔ هوش مصنوعی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یک دمو. یک خط. یک سؤال.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خوب نگاه کن.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بازیِ حیوانات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ماشین فقط این را می‌بیند: ۸ حیوان با برچسب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هر حیوان = دو عدد (وزن، طول گوش) + یک پاسخ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هیچ قانونی به آن داده نشده. هیچ.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خطِ ماشین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از دلِ همان ۸ سطر، ماشین خودش یک خط کشید.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پشتِ خط: گربه‌ها. جلوی خط: سگ‌ها.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«این خط را چه کسی کشید؟!»</a:t>
            </a:r>
          </a:p>
        </p:txBody>
      </p:sp>
      <p:pic>
        <p:nvPicPr>
          <p:cNvPr id="7" name="Picture 6" descr="animal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حالا امتحانش کنیم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حیواناتی که ماشین هرگز ندیده: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گرگ ← سگ. گربهٔ همسایه ← گربه. درست!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توله‌سگ ← گربه؟! فیل ← سگ؟!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یک سؤال ساده، جاهای خالیِ خط را پر می‌کند.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سؤال بزرگ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چطور یک کامپیوتر را باهوش کنیم؟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راه اول — روش قدیمی: نوشتن قاعده‌ها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داده + قاعده‌ها ← پاسخ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انسان هر قاعده را با دست می‌نویسد.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«اگر سبیل داشت و خرخر می‌کرد، پس گربه است»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مشکل نوشتن قاعده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حالا نوبت شماست: قاعده‌هایی بنویسید که گربه را بشناسد.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گربهٔ بدون مو؟ گربه در لباس؟ حیوان کوچک؟!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هیچ‌کس نمی‌تواند به‌اندازهٔ کافی قاعده بنویسد!</a:t>
            </a:r>
          </a:p>
        </p:txBody>
      </p:sp>
      <p:pic>
        <p:nvPicPr>
          <p:cNvPr id="7" name="Picture 6" descr="cat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7" y="10058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راه ۲ — یادگیری ماشین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داده + پاسخ‌ها ← قاعده‌ها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ماشین قاعده را کشف می‌کند.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همان خطِ قرمزِ اولِ جلسه.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هوش مصنوعی در برابر یادگیری ماشین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هوش مصنوعی یعنی آرزوی بزرگ: ماشین‌هایی که هوشمندانه رفتار می‌کنند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یادگیری ماشین یعنی راه اصلی رسیدن به آن آرزو: یادگیری از روی داده‌ها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بازی میوه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62895" cy="1645920"/>
        </p:xfrm>
        <a:graphic>
          <a:graphicData uri="http://schemas.openxmlformats.org/drawingml/2006/table">
            <a:tbl>
              <a:tblPr firstRow="1" bandRow="1" rtl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411480"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3C4043"/>
                          </a:solidFill>
                          <a:latin typeface="Vazirmatn"/>
                        </a:defRPr>
                      </a:pPr>
                      <a:r>
                        <a:t>رنگ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3C4043"/>
                          </a:solidFill>
                          <a:latin typeface="Vazirmatn"/>
                        </a:defRPr>
                      </a:pPr>
                      <a:r>
                        <a:t>اندازه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3C4043"/>
                          </a:solidFill>
                          <a:latin typeface="Vazirmatn"/>
                        </a:defRPr>
                      </a:pPr>
                      <a:r>
                        <a:t>بافت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3C4043"/>
                          </a:solidFill>
                          <a:latin typeface="Vazirmatn"/>
                        </a:defRPr>
                      </a:pPr>
                      <a:r>
                        <a:t>← میوه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قرمز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متوسط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صاف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؟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زرد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دراز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صاف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؟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بنفش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ریز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چروک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Vazirmatn"/>
                        </a:defRPr>
                      </a:pPr>
                      <a:r>
                        <a:t>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46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ستون پاسخ را بپوشان. از سرنخ‌ها میوه را حدس بزن.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واژگان جدید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ویژگی = یک سرنخ (یک ستون)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برچسب = پاسخ (ستونی که می‌خواهیم پیش‌بینی کنیم)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نمونه = یک سطر = سرنخ‌ها + پاسخ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کدام ویژگی مهم است؟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رنگ؟ اندازه؟ بافت؟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کدام سرنخ برای حدس زدن میوه بهتر جواب می‌دهد؟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(رأی بدهید. مناقشه کنید. جواب غلطی وجود ندارد — هنوز.)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یادگیری نظارت‌شده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یادگیری از نمونه‌هایی که پاسخ دارند.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مثل درس خواندن با پاسخ‌نامه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بعد رفتن سر آزمون جدید.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چرا «نظارت‌شده»؟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هیچ انسانی مدل را تماشا نمی‌کند!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یعنی داده‌ها پاسخ دارند.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(تاریخ یک کلمهٔ عجیب انتخاب کرده.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تایتانیک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۸۹۱ مسافر، ۸۹۱ سطر.</a:t>
            </a:r>
          </a:p>
        </p:txBody>
      </p:sp>
      <p:pic>
        <p:nvPicPr>
          <p:cNvPr id="5" name="Picture 4" descr="titanic_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هر سطر، یک زندگی است؛ هر ستون، یک سرنخ.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اگر جای آن‌ها بودی، زنده می‌ماندی؟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داده به‌صورت عکس</a:t>
            </a:r>
          </a:p>
        </p:txBody>
      </p:sp>
      <p:pic>
        <p:nvPicPr>
          <p:cNvPr id="4" name="Picture 3" descr="survival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178" y="1005840"/>
            <a:ext cx="6639339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همیشه قبل از هر کاری، داده‌ات را ببین.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بقا بر حسب جنسیت و کلاس</a:t>
            </a:r>
          </a:p>
        </p:txBody>
      </p:sp>
      <p:pic>
        <p:nvPicPr>
          <p:cNvPr id="4" name="Picture 3" descr="survival_by_sex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24626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حدود ۷۴٪ زنان زنده ماندند؛ اما فقط ۱۹٪ از مردان کلاس 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لحظهٔ جادویی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در ۳ خط، یک هوش مصنوعی بساز</a:t>
            </a:r>
          </a:p>
        </p:txBody>
      </p:sp>
      <p:pic>
        <p:nvPicPr>
          <p:cNvPr id="5" name="Picture 4" descr="magic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با من تایپ کن. واقعاً — نت‌بوک را باز کن و تایپ کن.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سه خط جادویی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چه چیزی یاد گرفت؟</a:t>
            </a:r>
          </a:p>
        </p:txBody>
      </p:sp>
      <p:pic>
        <p:nvPicPr>
          <p:cNvPr id="4" name="Picture 3" descr="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3949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همان طور که می‌بینی فقط چند سؤال ساده است؛ حتی خودت هم می‌توانستی بکشیش.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یک حرف آخر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این مدل یک مغز نیست.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فقط الگویی از سؤال‌ها پیدا کرده که با بقا جور در می‌آید.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و همین، خودش شگفت‌انگیز است.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pic>
        <p:nvPicPr>
          <p:cNvPr id="3" name="Picture 2" descr="share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18745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امروز یاد گرفتی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قاعده ← پاسخ، یا پاسخ ← قاعده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ویژگی (سرنخ) و برچسب (پاسخ)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یادگیری نظارت‌شده = نمونه‌های همراه با پاسخ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سه خط جادویی: بساز ← یاد بده ← پیش‌بینی کن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تحویل امشب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اولین نت‌بوک یادگیری ماشین‌ات ← مخزن گیت‌هاب تو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«اگر آن روز سرِ تایتانیک بودم، زنده می‌ماندم؟» — مدلی که خودت ساختی جواب می‌دهد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تمرین‌های خانه (۴ تا)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B1 کارآگاه ویژگی‌ها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B2 دیتاست خودت را بساز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B3 سه خط جادویی — طبقه‌بند حیوانات خودت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B4 پیش‌بینی‌گر بقا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مهلت: قبل از جلسهٔ بعدی (حل مسئله).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CC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000" b="1">
                <a:solidFill>
                  <a:srgbClr val="3C4043"/>
                </a:solidFill>
                <a:latin typeface="Vazirmatn"/>
              </a:rPr>
              <a:t>جلسهٔ بعد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تمرین‌هایتان را همان‌جا، با هم حل می‌کنیم.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هر کاری که امتحان کردید را بیاورید؛ حتی کدهای خراب را.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آن‌ها سوخت جلسهٔ بعدی ما هستند.</a:t>
            </a:r>
          </a:p>
        </p:txBody>
      </p:sp>
      <p:pic>
        <p:nvPicPr>
          <p:cNvPr id="7" name="Picture 6" descr="shared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28117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