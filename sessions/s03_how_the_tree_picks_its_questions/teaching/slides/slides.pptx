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INSTRUCTOR — Session 3 of 32. 60 min teaching + 60 min problem-solving.</a:t>
            </a:r>
          </a:p>
          <a:p>
            <a:r>
              <a:rPr>
                <a:latin typeface="Vazirmatn"/>
              </a:rPr>
              <a:t>BEFORE CLASS: PART 0 demo tested; three grab-bags prepared (8 blue; 4+4; 3+3+2); slides assets exist.</a:t>
            </a:r>
          </a:p>
          <a:p>
            <a:r>
              <a:rPr>
                <a:latin typeface="Vazirmatn"/>
              </a:rPr>
              <a:t>TIMING: hook 0-5, sortedness 5-15, surprise 15-25, the game 25-35, Titanic 35-45, you-be-the-machine 45-50, quiz 50-55, handout 55-60.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[0:00] HOOK beat 1 — two boxes on the board (or magnets).</a:t>
            </a:r>
          </a:p>
          <a:p>
            <a:r>
              <a:rPr>
                <a:latin typeface="Vazirmatn"/>
              </a:rPr>
              <a:t>Box A: 4 blue + 4 red mixed. Box B: 8 blue.</a:t>
            </a:r>
          </a:p>
          <a:p>
            <a:r>
              <a:rPr>
                <a:latin typeface="Vazirmatn"/>
              </a:rPr>
              <a:t>ASK: "Which box needs help?" — they answer instantly: A.</a:t>
            </a:r>
          </a:p>
          <a:p>
            <a:r>
              <a:rPr>
                <a:latin typeface="Vazirmatn"/>
              </a:rPr>
              <a:t>The word "sorted" arrives TODAY. Do not name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HOOK beat 2 — the vote. Class votes on the TWO candidate questions on the slide.</a:t>
            </a:r>
          </a:p>
          <a:p>
            <a:r>
              <a:rPr>
                <a:latin typeface="Vazirmatn"/>
              </a:rPr>
              <a:t>"Is it red?" obviously wins — half the class wonders why we even asked.</a:t>
            </a:r>
          </a:p>
          <a:p>
            <a:r>
              <a:rPr>
                <a:latin typeface="Vazirmatn"/>
              </a:rPr>
              <a:t>Keep the votes on the board: the losing questions return on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PART 0 demo cell] The leaderboard prints: every candidate question with its gain.</a:t>
            </a:r>
          </a:p>
          <a:p>
            <a:r>
              <a:rPr>
                <a:latin typeface="Vazirmatn"/>
              </a:rPr>
              <a:t>SAY: "It SHOPS for questions. It scores each one. The champion gets asked."</a:t>
            </a:r>
          </a:p>
          <a:p>
            <a:r>
              <a:rPr>
                <a:latin typeface="Vazirmatn"/>
              </a:rPr>
              <a:t>EXPECT: "It tried ALL the questions?!" — the S2 mystery is answered.</a:t>
            </a:r>
          </a:p>
          <a:p>
            <a:r>
              <a:rPr>
                <a:latin typeface="Vazirmatn"/>
              </a:rPr>
              <a:t>FALLBACK: narrate from the leaderboard slide (the committed picture in assets).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[5:00] NAME slide — experience already happened (the votes).</a:t>
            </a:r>
          </a:p>
          <a:p>
            <a:r>
              <a:rPr>
                <a:latin typeface="Vazirmatn"/>
              </a:rPr>
              <a:t>[MISCONCEPTION] splitting evenly is NOT the goal — sorting is. A question can halve the box and sort nothing.</a:t>
            </a:r>
          </a:p>
          <a:p>
            <a:r>
              <a:rPr>
                <a:latin typeface="Vazirmatn"/>
              </a:rPr>
              <a:t>CHECK: "The elephant's side of our S2 tree — mixed or pure?" (pure — that's why the tree stopped asking.)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SHOW the useless question: ear &gt;= 4.5 splits off ONE cat (a pure but tiny side); the other 10 stay just as mixed.</a:t>
            </a:r>
          </a:p>
          <a:p>
            <a:r>
              <a:rPr>
                <a:latin typeface="Vazirmatn"/>
              </a:rPr>
              <a:t>POINT at the balls: "One side IS pure — but it holds only 1 of the 11. The score cares about the WHOLE box: big groups that get purer."</a:t>
            </a:r>
          </a:p>
          <a:p>
            <a:r>
              <a:rPr>
                <a:latin typeface="Vazirmatn"/>
              </a:rPr>
              <a:t>This slide teaches the weighted average WITHOUT the word — why a "perfectly pure" side can still earn nearly nothing (gain 0.14).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SHOW the champion: weight &gt;= 14 — heavy side is PURE (4 big dogs).</a:t>
            </a:r>
          </a:p>
          <a:p>
            <a:r>
              <a:rPr>
                <a:latin typeface="Vazirmatn"/>
              </a:rPr>
              <a:t>TRACE: left side still has cats + small dogs mixed — a question for IT comes later (the light-box round).</a:t>
            </a:r>
          </a:p>
          <a:p>
            <a:r>
              <a:rPr>
                <a:latin typeface="Vazirmatn"/>
              </a:rPr>
              <a:t>SAY: "Same box, same two doors — but THIS question sorted. THAT difference is what the machine measures."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USE-IT (2 min): class votes on weight &gt;= 30 before you comment.</a:t>
            </a:r>
          </a:p>
          <a:p>
            <a:r>
              <a:rPr>
                <a:latin typeface="Vazirmatn"/>
              </a:rPr>
              <a:t>Answer: PARTIALLY sorted — the yes-side is pure (2 big dogs), the no-side stays mixed.</a:t>
            </a:r>
          </a:p>
          <a:p>
            <a:r>
              <a:rPr>
                <a:latin typeface="Vazirmatn"/>
              </a:rPr>
              <a:t>So it is a real question, just not the champion — its gain is smaller (0.32 vs 0.95).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[15:00] Segment B — the grab-bag game. 3 min, high energy.</a:t>
            </a:r>
          </a:p>
          <a:p>
            <a:r>
              <a:rPr>
                <a:latin typeface="Vazirmatn"/>
              </a:rPr>
              <a:t>Bag 1 (8 blue): no surprise. Bag 2 (4+4): coin-flip. Bag 3 (3+3+2): maximum.</a:t>
            </a:r>
          </a:p>
          <a:p>
            <a:r>
              <a:rPr>
                <a:latin typeface="Vazirmatn"/>
              </a:rPr>
              <a:t>Volunteer draws blind; class rates surprise 0-2 with fingers BEFORE each draw.</a:t>
            </a:r>
          </a:p>
          <a:p>
            <a:r>
              <a:rPr>
                <a:latin typeface="Vazirmatn"/>
              </a:rPr>
              <a:t>They just invented the ranking: pure = 0, mixed = big.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NAME slide. Write on board: the three bags get their numbers (0, 1, 1.56).</a:t>
            </a:r>
          </a:p>
          <a:p>
            <a:r>
              <a:rPr>
                <a:latin typeface="Vazirmatn"/>
              </a:rPr>
              <a:t>[MISCONCEPTION] entropy is NOT the machine thinking — it's a number from counting colors. The least magical part of the course.</a:t>
            </a:r>
          </a:p>
          <a:p>
            <a:r>
              <a:rPr>
                <a:latin typeface="Vazirmatn"/>
              </a:rPr>
              <a:t>[RUN: cell A2] machine prints the same ranking — check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USE-IT (cell A2b): class predicts "middle?" then runs.</a:t>
            </a:r>
          </a:p>
          <a:p>
            <a:r>
              <a:rPr>
                <a:latin typeface="Vazirmatn"/>
              </a:rPr>
              <a:t>Answer: 1.57 — almost the 3-color bag (same kind of mix: three things, none dominating).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[25:00] Segment C — THE game, EXPERIENCE first. No vocabulary yet.</a:t>
            </a:r>
          </a:p>
          <a:p>
            <a:r>
              <a:rPr>
                <a:latin typeface="Vazirmatn"/>
              </a:rPr>
              <a:t>The score card on the board: question | sides | surprise after | score.</a:t>
            </a:r>
          </a:p>
          <a:p>
            <a:r>
              <a:rPr>
                <a:latin typeface="Vazirmatn"/>
              </a:rPr>
              <a:t>Teams of two compute the 5 candidate questions (content.md Segment C). First correct champion shouts.</a:t>
            </a:r>
          </a:p>
          <a:p>
            <a:r>
              <a:rPr>
                <a:latin typeface="Vazirmatn"/>
              </a:rPr>
              <a:t>Watch for the TIE: weight ≥ 14 and ear ≥ 8.25 both score 0.95 — let a team notice it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NAME slide — what the teams just computed BY HAND has a name: information gain.</a:t>
            </a:r>
          </a:p>
          <a:p>
            <a:r>
              <a:rPr>
                <a:latin typeface="Vazirmatn"/>
              </a:rPr>
              <a:t>[MISCONCEPTION] the champion is NOT the purest side — it is the biggest surprise-drop for the WHOLE box</a:t>
            </a:r>
          </a:p>
          <a:p>
            <a:r>
              <a:rPr>
                <a:latin typeface="Vazirmatn"/>
              </a:rPr>
              <a:t>(the bad question's one-animal pure side won almost nothing).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cell A3] the machine's leaderboard — same ranking the class computed.</a:t>
            </a:r>
          </a:p>
          <a:p>
            <a:r>
              <a:rPr>
                <a:latin typeface="Vazirmatn"/>
              </a:rPr>
              <a:t>THE TIE: both champions gain 0.95. The machine breaks ties by column order (weight first) — boring, honest.</a:t>
            </a:r>
          </a:p>
          <a:p>
            <a:r>
              <a:rPr>
                <a:latin typeface="Vazirmatn"/>
              </a:rPr>
              <a:t>SAY: "It plays this game on EVERY node — millions of times per tree."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USE-IT (cell A3b): class predicts BEFORE running.</a:t>
            </a:r>
          </a:p>
          <a:p>
            <a:r>
              <a:rPr>
                <a:latin typeface="Vazirmatn"/>
              </a:rPr>
              <a:t>Answer: ear &gt;= 8.25 — takes the box to ZERO surprise (both sides pure).</a:t>
            </a:r>
          </a:p>
          <a:p>
            <a:r>
              <a:rPr>
                <a:latin typeface="Vazirmatn"/>
              </a:rPr>
              <a:t>SAY: "You just derived the S2 tree's second question yourselves."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[35:00] Segment D — THE MOMENT. Students code along cells A4-A5.</a:t>
            </a:r>
          </a:p>
          <a:p>
            <a:r>
              <a:rPr>
                <a:latin typeface="Vazirmatn"/>
              </a:rPr>
              <a:t>A4: the Titanic box, surprise 0.97.</a:t>
            </a:r>
          </a:p>
          <a:p>
            <a:r>
              <a:rPr>
                <a:latin typeface="Vazirmatn"/>
              </a:rPr>
              <a:t>ASK: "Is this box sorted? What's our surprise?"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[RUN: cell A5] the leaderboard: is_female 0.214 &gt; pclass 0.083 &gt; fare 0.069 &gt; age 0.018.</a:t>
            </a:r>
          </a:p>
          <a:p>
            <a:r>
              <a:rPr>
                <a:latin typeface="Vazirmatn"/>
              </a:rPr>
              <a:t>CALLBACK: "Session 1, you voted gender matters most. You beat the machine to it — it just put a NUMBER on your vote."</a:t>
            </a:r>
          </a:p>
          <a:p>
            <a:r>
              <a:rPr>
                <a:latin typeface="Vazirmatn"/>
              </a:rPr>
              <a:t>[MISCONCEPTION] gain measures sorting, not CAUSES. One sentence only (Session 9 opens the fairness door properly).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[45:00] Segment E — you be the machine.</a:t>
            </a:r>
          </a:p>
          <a:p>
            <a:r>
              <a:rPr>
                <a:latin typeface="Vazirmatn"/>
              </a:rPr>
              <a:t>[RUN: cell A6] the loop in plain Python — best_question() on the full box, then on the light box.</a:t>
            </a:r>
          </a:p>
          <a:p>
            <a:r>
              <a:rPr>
                <a:latin typeface="Vazirmatn"/>
              </a:rPr>
              <a:t>REBUILD the S2 tree on the board AS A CLASS: root champion -&gt; light box -&gt; second champion.</a:t>
            </a:r>
          </a:p>
          <a:p>
            <a:r>
              <a:rPr>
                <a:latin typeface="Vazirmatn"/>
              </a:rPr>
              <a:t>HONEST BEAT: the machine doesn't think — it measures and takes the max, like a scale. Ties broken by column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The C2 rabbit returns: no depth, no examples could fix it — the FIX was a new feature.</a:t>
            </a:r>
          </a:p>
          <a:p>
            <a:r>
              <a:rPr>
                <a:latin typeface="Vazirmatn"/>
              </a:rPr>
              <a:t>Feature choice is OUR job; scoring is the machine's. (Seed of Session 7 — one sentence, then stop.)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[50:00] CONSOLIDATION — cold call, one question per student:</a:t>
            </a:r>
          </a:p>
          <a:p>
            <a:r>
              <a:rPr>
                <a:latin typeface="Vazirmatn"/>
              </a:rPr>
              <a:t>what does a good question do? what is entropy in kid words? how is a question scored?</a:t>
            </a:r>
          </a:p>
          <a:p>
            <a:r>
              <a:rPr>
                <a:latin typeface="Vazirmatn"/>
              </a:rPr>
              <a:t>why weight &gt;= 14? what won on Titanic?</a:t>
            </a:r>
          </a:p>
          <a:p>
            <a:r>
              <a:rPr>
                <a:latin typeface="Vazirmatn"/>
              </a:rPr>
              <a:t>If anyone stumbles on Q1-3, re-explain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[55:00] THE SHIP + handout in one. The annotated split plot IS the Ship (cell B3) — YOUR hand-analyzed Titanic map.</a:t>
            </a:r>
          </a:p>
          <a:p>
            <a:r>
              <a:rPr>
                <a:latin typeface="Vazirmatn"/>
              </a:rPr>
              <a:t>One sentence of story per problem:</a:t>
            </a:r>
          </a:p>
          <a:p>
            <a:r>
              <a:rPr>
                <a:latin typeface="Vazirmatn"/>
              </a:rPr>
              <a:t>B1 compute the bags' surprise numbers; B2 derive the light box champion; B3 the Titanic leaderboard + the annotated plot.</a:t>
            </a:r>
          </a:p>
          <a:p>
            <a:r>
              <a:rPr>
                <a:latin typeface="Vazirmatn"/>
              </a:rPr>
              <a:t>~20-30 min; deadline before the problem-solving session; next session solves them TOGETHER from their attempts.</a:t>
            </a:r>
          </a:p>
          <a:p>
            <a:r>
              <a:rPr>
                <a:latin typeface="Vazirmatn"/>
              </a:rPr>
              <a:t>Judge is instructor-only: python judge/run.py s03_notebook.ipynb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Vazirmatn"/>
              </a:rPr>
              <a:t>[60:00 — end on time.] CLIFFHANGER verbatim:</a:t>
            </a:r>
          </a:p>
          <a:p>
            <a:r>
              <a:rPr>
                <a:latin typeface="Vazirmatn"/>
              </a:rPr>
              <a:t>"What if a question is only 'good' on the animals it has SEEN?</a:t>
            </a:r>
          </a:p>
          <a:p>
            <a:r>
              <a:rPr>
                <a:latin typeface="Vazirmatn"/>
              </a:rPr>
              <a:t>Tomorrow: a student who memorized every exam answer — and how to catch a machine fooling itself."</a:t>
            </a:r>
          </a:p>
          <a:p>
            <a:r>
              <a:rPr>
                <a:latin typeface="Vazirmatn"/>
              </a:rPr>
              <a:t>NEXT SESSION: train vs test (S4).</a:t>
            </a:r>
          </a:p>
          <a:p>
            <a:r>
              <a:rPr>
                <a:latin typeface="Vazirmatn"/>
              </a:rPr>
              <a:t>AFTER CLASS (48h): fill the retro note in the session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B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>
                <a:solidFill>
                  <a:srgbClr val="3C4043"/>
                </a:solidFill>
                <a:latin typeface="Vazirmatn"/>
              </a:rPr>
              <a:t>درخت چطور سؤالش را انتخاب می‌کند؟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>
                <a:solidFill>
                  <a:srgbClr val="3C4043"/>
                </a:solidFill>
                <a:latin typeface="Vazirmatn"/>
              </a:rPr>
              <a:t>روز سوم — تو انتخاب‌کنندهٔ سؤال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بخش ۱ · جلسهٔ 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امروز می‌فهمی کدام سؤال بهتر است — و چرا.</a:t>
            </a:r>
          </a:p>
        </p:txBody>
      </p:sp>
      <p:pic>
        <p:nvPicPr>
          <p:cNvPr id="7" name="Picture 6" descr="share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28117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دو جعبه، یک سؤال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هدف: هر جعبه یک‌رنگ شود.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کدام جعبه کمک می‌خواهد؟ کدام تمام است؟</a:t>
            </a:r>
          </a:p>
        </p:txBody>
      </p:sp>
      <p:pic>
        <p:nvPicPr>
          <p:cNvPr id="6" name="Picture 5" descr="two_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کدام سؤال بهتر مرتب می‌کند؟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جعبهٔ جدید: ۲ آبی + ۲ قرمز.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رأی: «قرمز است؟» یا «درشت است؟»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رأی‌ها بمانند — ماشین همین بازی را می‌کند.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ماشین به سؤال‌هایش نمره می‌دهد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جلسهٔ ۲ ماشین وزن ‎≥ ۱۴‎ را پرسید. چرا ۱۴؟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ببین: ماشین همهٔ سؤال‌ها را امتحان می‌کند و نمره می‌دهد.</a:t>
            </a:r>
          </a:p>
        </p:txBody>
      </p:sp>
      <p:pic>
        <p:nvPicPr>
          <p:cNvPr id="6" name="Picture 5" descr="split_champ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خلوص (Purity)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یعنی: جعبه چقدر مرتب است.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سؤالِ خوب: هر طرفِ در، یک‌چیز می‌ماند.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سؤالِ بیهوده: جعبه تکه می‌شود، شلوغی همان شلوغی.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سؤالِ بیهوده</a:t>
            </a:r>
          </a:p>
        </p:txBody>
      </p:sp>
      <p:pic>
        <p:nvPicPr>
          <p:cNvPr id="4" name="Picture 3" descr="split_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45" y="1005840"/>
            <a:ext cx="6609805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درِ نه خالص شد — ولی فقط ۱ حیوان! ده تایِ دیگر هنوز همان‌قدر قاطی‌اند.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سؤالِ قهرمان</a:t>
            </a:r>
          </a:p>
        </p:txBody>
      </p:sp>
      <p:pic>
        <p:nvPicPr>
          <p:cNvPr id="4" name="Picture 3" descr="split_champ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45" y="1005840"/>
            <a:ext cx="6609805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درِ بله: فقط سگ‌های بزرگ. خالص!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مرتب شد یا نه؟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وزن ‎≥ 30‎ ← نه: ۹ حیوان قاطی · بله: ۲ سگ بزرگ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مرتب شد یا فقط تکه شد؟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کیسه‌های غافلگیری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سه کیسه، یک توپِ بیرون‌کشیده‌شده به چشمِ بسته.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قبل از هر کشیدن، حدست را بگو. بعد: چندان غافلگیر شدی؟</a:t>
            </a:r>
          </a:p>
        </p:txBody>
      </p:sp>
      <p:pic>
        <p:nvPicPr>
          <p:cNvPr id="6" name="Picture 5" descr="grab_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غافلگیری — آنتروپی (Entropy)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عددِ شلوغیِ جعبه: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جعبهٔ خالص ← 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قاطی‌تر ← عدد بزرگ‌تر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از شمردنِ رنگ‌ها می‌آید. فرمول لازم نیست.</a:t>
            </a:r>
          </a:p>
        </p:txBody>
      </p:sp>
      <p:pic>
        <p:nvPicPr>
          <p:cNvPr id="8" name="Picture 7" descr="slot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جعبهٔ ۱۱ حیوان: چند؟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۴ گربه، ۴ سگ بزرگ، ۳ سگ کوچک.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غافلگیری‌اش اول حدس بزن، بعد ببین.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بازی: تو امتیاز بده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روی تخته: هر سؤال → دو در → کی هر طرف می‌ایستد؟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تیمِ دونفره: «قاطیِ قبل منهای قاطیِ بعد» را برای هر سؤال حساب کن.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قهرمان را فریاد بزن!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نمرهٔ سؤال: بهرهٔ اطلاعاتی (Information Gain)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بهره = غافلگیریِ قبل − غافلگیریِ بعد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سؤالِ قهرمان: بیشترین بهره.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جدول امتیازها</a:t>
            </a:r>
          </a:p>
        </p:txBody>
      </p:sp>
      <p:pic>
        <p:nvPicPr>
          <p:cNvPr id="4" name="Picture 3" descr="leaderboard_anim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8" cy="3919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قهرمان‌ها مساوی‌اند: وزن ‎≥ ۱۴‎ و طول_گوش ‎≥ ۸٫۲۵‎.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راند دوم: جعبهٔ سبک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۷ حیوان: ۴ گربه + ۳ سگ کوچک. غافلگیری: ۰٫۹۹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قهرمانِ این جعبه کدام است؟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ماشین این بازی را روی تایتانیک هم می‌کند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۷۱۲ مسافر. جعبهٔ قاطی: ۲۸۸ زنده، ۴۲۴ نزنده.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همان دادهٔ جلسهٔ ۱ — این بار با نمره.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قهرمانِ تایتانیک</a:t>
            </a:r>
          </a:p>
        </p:txBody>
      </p:sp>
      <p:pic>
        <p:nvPicPr>
          <p:cNvPr id="4" name="Picture 3" descr="titanic_champ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945" y="1005840"/>
            <a:ext cx="6609805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is_female — بهرهٔ ۰٫۲۱؛ نزدیک به سه برابرِ نفرِ دوم (۰٫۰۸).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6FEB"/>
                </a:solidFill>
                <a:latin typeface="Vazirmatn"/>
              </a:rPr>
              <a:t>کلِ راز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A3A66"/>
                </a:solidFill>
                <a:latin typeface="Vazirmatn"/>
              </a:rPr>
              <a:t>انتخابِ سؤال، کارِ ماست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ماشین فقط میانِ ستون‌های جدول می‌گردد.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«آیا هاپ می‌زند؟» هیچ‌وقت پرسیده نمی‌شود — چون ستون نیست.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pic>
        <p:nvPicPr>
          <p:cNvPr id="3" name="Picture 2" descr="shared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1874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امروز یاد گرفتی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خلوص = یک‌رنگیِ جعبه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آنتروپی = عددِ غافلگیری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بهره = قبل − بعد؛ قهرمان = بیشترین بهره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قهرمانِ تایتانیک: is_female — رأیِ جلسهٔ 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3C4043"/>
                </a:solidFill>
                <a:latin typeface="Vazirmatn"/>
              </a:rPr>
              <a:t>تحویل امشب + تمرین‌های خانه (۳ تا)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900">
                <a:solidFill>
                  <a:srgbClr val="3C4043"/>
                </a:solidFill>
                <a:latin typeface="Vazirmatn"/>
              </a:rPr>
              <a:t>• B1 غافلگیریِ سه کیسه  2. B2 قهرمانِ جعبهٔ سبک  3. B3 قهرمانِ تایتانیک + نقشهٔ کشتی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«رأیِ جلسهٔ ۱‌ام، امروز عدد شد.» — سیُمین Ship ات</a:t>
            </a:r>
          </a:p>
        </p:txBody>
      </p:sp>
      <p:pic>
        <p:nvPicPr>
          <p:cNvPr id="6" name="Picture 5" descr="annotated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687" y="1005840"/>
            <a:ext cx="560832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B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1100">
                <a:solidFill>
                  <a:srgbClr val="3C4043"/>
                </a:solidFill>
                <a:latin typeface="Vazirmatn"/>
              </a:rPr>
              <a:t>دورهٔ یادگیری ماشین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000" b="1">
                <a:solidFill>
                  <a:srgbClr val="3C4043"/>
                </a:solidFill>
                <a:latin typeface="Vazirmatn"/>
              </a:rPr>
              <a:t>جلسهٔ بعد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ماشین سؤال‌هایش را روی مسافرهایی که دیده امتحان می‌کند...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و اگر فقط همین‌ها را حفظ کرده باشد؟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>
                <a:solidFill>
                  <a:srgbClr val="3C4043"/>
                </a:solidFill>
                <a:latin typeface="Vazirmatn"/>
              </a:rPr>
              <a:t>دفعهٔ بعد: آزمونِ سختِ تقلب.</a:t>
            </a:r>
          </a:p>
        </p:txBody>
      </p:sp>
      <p:pic>
        <p:nvPicPr>
          <p:cNvPr id="7" name="Picture 6" descr="shared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005840"/>
            <a:ext cx="7498079" cy="28117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C4043"/>
                </a:solidFill>
                <a:latin typeface="Vazirmatn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