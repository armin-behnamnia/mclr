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INSTRUCTOR — Session 2 of 32. 60 min teaching + 60 min problem-solving.</a:t>
            </a:r>
          </a:p>
          <a:p>
            <a:r>
              <a:rPr>
                <a:latin typeface="Vazirmatn"/>
              </a:rPr>
              <a:t>BEFORE CLASS: PART 0 demo tested; animals_table.pdf printed per student; blank paper; judge 3/3.</a:t>
            </a:r>
          </a:p>
          <a:p>
            <a:r>
              <a:rPr>
                <a:latin typeface="Vazirmatn"/>
              </a:rPr>
              <a:t>TIMING: hook 0-5, anatomy 5-15, reading 15-25, depth 25-35, lab 35-50, quiz 50-55, handout 55-60.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[0:00] HOOK beat 1 — human game, no notebook yet.</a:t>
            </a:r>
          </a:p>
          <a:p>
            <a:r>
              <a:rPr>
                <a:latin typeface="Vazirmatn"/>
              </a:rPr>
              <a:t>You think of a WOLF. Class asks yes/no only. Count questions on the board, aloud.</a:t>
            </a:r>
          </a:p>
          <a:p>
            <a:r>
              <a:rPr>
                <a:latin typeface="Vazirmatn"/>
              </a:rPr>
              <a:t>When they get it: do NOT clear the board — the path feeds slide 3.</a:t>
            </a:r>
          </a:p>
          <a:p>
            <a:r>
              <a:rPr>
                <a:latin typeface="Vazirmatn"/>
              </a:rPr>
              <a:t>Never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[~3:00] Redraw the game's path as a diagram: question circles, answer doors, verdict.</a:t>
            </a:r>
          </a:p>
          <a:p>
            <a:r>
              <a:rPr>
                <a:latin typeface="Vazirmatn"/>
              </a:rPr>
              <a:t>SAY: "Every answer was a door. You just walked a decision tree. Last session's red line? ONE question, ONE door."</a:t>
            </a:r>
          </a:p>
          <a:p>
            <a:r>
              <a:rPr>
                <a:latin typeface="Vazirmatn"/>
              </a:rPr>
              <a:t>EXPECT a student to make the red-line connection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once] Depth-1 vs depth-2, puppy verdict under each; the picture above is its output.</a:t>
            </a:r>
          </a:p>
          <a:p>
            <a:r>
              <a:rPr>
                <a:latin typeface="Vazirmatn"/>
              </a:rPr>
              <a:t>SAY: "One question got the puppy wrong. Watch what a second question does."</a:t>
            </a:r>
          </a:p>
          <a:p>
            <a:r>
              <a:rPr>
                <a:latin typeface="Vazirmatn"/>
              </a:rPr>
              <a:t>EXPECT: "It fixed it?!" Close: "You've played decision trees your whole life."</a:t>
            </a:r>
          </a:p>
          <a:p>
            <a:r>
              <a:rPr>
                <a:latin typeface="Vazirmatn"/>
              </a:rPr>
              <a:t>FALLBACK: narrate from this picture (it is the demo's output, committed in assets).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[5:00] NAME slide — experience already happened.</a:t>
            </a:r>
          </a:p>
          <a:p>
            <a:r>
              <a:rPr>
                <a:latin typeface="Vazirmatn"/>
              </a:rPr>
              <a:t>Point at the BOARD path: node = question, branch = door, leaf = verdict room.</a:t>
            </a:r>
          </a:p>
          <a:p>
            <a:r>
              <a:rPr>
                <a:latin typeface="Vazirmatn"/>
              </a:rPr>
              <a:t>[MISCONCEPTION] the tree cannot change questions mid-game — path is fixed.</a:t>
            </a:r>
          </a:p>
          <a:p>
            <a:r>
              <a:rPr>
                <a:latin typeface="Vazirmatn"/>
              </a:rPr>
              <a:t>CHECK: "Max leaves of a 2-question tree?" 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A1] Depth-1 tree picture — same mechanic as last session's red line.</a:t>
            </a:r>
          </a:p>
          <a:p>
            <a:r>
              <a:rPr>
                <a:latin typeface="Vazirmatn"/>
              </a:rPr>
              <a:t>SAY: "The line and this picture are the SAME thing. Only the drawing changed."</a:t>
            </a:r>
          </a:p>
          <a:p>
            <a:r>
              <a:rPr>
                <a:latin typeface="Vazirmatn"/>
              </a:rPr>
              <a:t>Seals continuity: Session 1's model was a tree all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[15:00] Segment B. NAME: root = the first fork.</a:t>
            </a:r>
          </a:p>
          <a:p>
            <a:r>
              <a:rPr>
                <a:latin typeface="Vazirmatn"/>
              </a:rPr>
              <a:t>[RUN: cell A2] class reads the tree aloud door by door for a wolf: weight &gt;= 14 yes — big-dog room, one question only.</a:t>
            </a:r>
          </a:p>
          <a:p>
            <a:r>
              <a:rPr>
                <a:latin typeface="Vazirmatn"/>
              </a:rPr>
              <a:t>INTERACTION: their first questions from the hook — most asked weight too.</a:t>
            </a:r>
          </a:p>
          <a:p>
            <a:r>
              <a:rPr>
                <a:latin typeface="Vazirmatn"/>
              </a:rPr>
              <a:t>[MISCONCEPTION] the tree does not ask every animal the same number of questions — the heavy side ends after ONE question (already pure); only the light side gets the ear question.</a:t>
            </a:r>
          </a:p>
          <a:p>
            <a:r>
              <a:rPr>
                <a:latin typeface="Vazirmatn"/>
              </a:rPr>
              <a:t>Plant: "the machine picked exactly 14. Why? Next session."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A2] THE punchline picture — the machine's depth-2 tree (slide twin of the notebook's plot_tree).</a:t>
            </a:r>
          </a:p>
          <a:p>
            <a:r>
              <a:rPr>
                <a:latin typeface="Vazirmatn"/>
              </a:rPr>
              <a:t>SAY: "One question split light from heavy. The heavy side was DONE — big dogs. Only the light side needed the ear question."</a:t>
            </a:r>
          </a:p>
          <a:p>
            <a:r>
              <a:rPr>
                <a:latin typeface="Vazirmatn"/>
              </a:rPr>
              <a:t>ASK before running: "Which room does the puppy reach now?" — let them say it.</a:t>
            </a:r>
          </a:p>
          <a:p>
            <a:r>
              <a:rPr>
                <a:latin typeface="Vazirmatn"/>
              </a:rPr>
              <a:t>NEXT: the elephant test on the very next slide — keep this picture in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[~22:00] INTERACTION (2 min): with the depth-2 tree still projected, the class shouts the elephant's door.</a:t>
            </a:r>
          </a:p>
          <a:p>
            <a:r>
              <a:rPr>
                <a:latin typeface="Vazirmatn"/>
              </a:rPr>
              <a:t>Trace it live: weight ‎≥ ۱۴ ‎← بله — and the big-dog room is RIGHT THERE. The heavy side is already pure; the tree asks no second question.</a:t>
            </a:r>
          </a:p>
          <a:p>
            <a:r>
              <a:rPr>
                <a:latin typeface="Vazirmatn"/>
              </a:rPr>
              <a:t>SAY: "A leaf says ONE word for whatever reaches it — even a 3-ton elephant, after a single question."</a:t>
            </a:r>
          </a:p>
          <a:p>
            <a:r>
              <a:rPr>
                <a:latin typeface="Vazirmatn"/>
              </a:rPr>
              <a:t>HONEST POINT: the ear question lives on the LIGHT side only — the tree asks where animals are still mixed.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A3] visitors: wolf, puppy, elephant — students trace BEFORE the machine answers.</a:t>
            </a:r>
          </a:p>
          <a:p>
            <a:r>
              <a:rPr>
                <a:latin typeface="Vazirmatn"/>
              </a:rPr>
              <a:t>puppy: weight no, ears yes, small-dog room — correct.</a:t>
            </a:r>
          </a:p>
          <a:p>
            <a:r>
              <a:rPr>
                <a:latin typeface="Vazirmatn"/>
              </a:rPr>
              <a:t>SAY: "The second question — ears — is the cure for last session's mistake."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[25:00] Segment C. NAME: depth = longest question path.</a:t>
            </a:r>
          </a:p>
          <a:p>
            <a:r>
              <a:rPr>
                <a:latin typeface="Vazirmatn"/>
              </a:rPr>
              <a:t>[RUN: cell A4] depth 1 vs 2, accuracy 73% then 100%.</a:t>
            </a:r>
          </a:p>
          <a:p>
            <a:r>
              <a:rPr>
                <a:latin typeface="Vazirmatn"/>
              </a:rPr>
              <a:t>[MISCONCEPTION] more depth is not automatically smarter — WE turn the knob.</a:t>
            </a:r>
          </a:p>
          <a:p>
            <a:r>
              <a:rPr>
                <a:latin typeface="Vazirmatn"/>
              </a:rPr>
              <a:t>CHECK: "Leaves at depth 1 / 2 / 3?" (2/4/8)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A5 — students change the number THEMSELVES]</a:t>
            </a:r>
          </a:p>
          <a:p>
            <a:r>
              <a:rPr>
                <a:latin typeface="Vazirmatn"/>
              </a:rPr>
              <a:t>RACE: first to find the smallest perfect depth (2) shouts it.</a:t>
            </a:r>
          </a:p>
          <a:p>
            <a:r>
              <a:rPr>
                <a:latin typeface="Vazirmatn"/>
              </a:rPr>
              <a:t>Then max_depth=10 — the tree becomes a jungle; let them laugh.</a:t>
            </a:r>
          </a:p>
          <a:p>
            <a:r>
              <a:rPr>
                <a:latin typeface="Vazirmatn"/>
              </a:rPr>
              <a:t>"More questions is not always better — WHY is a story for later."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[35:00] THE LAB — the Ship. Hand out animals_table.pdf + blank paper.</a:t>
            </a:r>
          </a:p>
          <a:p>
            <a:r>
              <a:rPr>
                <a:latin typeface="Vazirmatn"/>
              </a:rPr>
              <a:t>RULES: yes/no questions about weight and ears only. Any tree that works, wins.</a:t>
            </a:r>
          </a:p>
          <a:p>
            <a:r>
              <a:rPr>
                <a:latin typeface="Vazirmatn"/>
              </a:rPr>
              <a:t>CIRCULATE. Stuck hint: "which question splits cats from dogs first?"</a:t>
            </a:r>
          </a:p>
          <a:p>
            <a:r>
              <a:rPr>
                <a:latin typeface="Vazirmatn"/>
              </a:rPr>
              <a:t>~10 minutes — the session's emotional core. Do not rush.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[~45:00] BATTLE: pairs swap papers; test on the surprise zoo (rabbit, fox, hamster, sparrow, lion).</a:t>
            </a:r>
          </a:p>
          <a:p>
            <a:r>
              <a:rPr>
                <a:latin typeface="Vazirmatn"/>
              </a:rPr>
              <a:t>Verdicts read door-by-door, out loud. Funniest failure gets applause.</a:t>
            </a:r>
          </a:p>
          <a:p>
            <a:r>
              <a:rPr>
                <a:latin typeface="Vazirmatn"/>
              </a:rPr>
              <a:t>Diagnose each failure: "WHICH question let you down?"</a:t>
            </a:r>
          </a:p>
          <a:p>
            <a:r>
              <a:rPr>
                <a:latin typeface="Vazirmatn"/>
              </a:rPr>
              <a:t>[MISCONCEPTION] there is no single correct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[~48:00] Connect. [RUN: cell A6] machine tree; project a student's paper tree next to it if possible.</a:t>
            </a:r>
          </a:p>
          <a:p>
            <a:r>
              <a:rPr>
                <a:latin typeface="Vazirmatn"/>
              </a:rPr>
              <a:t>SAY: "Same game, same shape. Yours you can tape to a wall."</a:t>
            </a:r>
          </a:p>
          <a:p>
            <a:r>
              <a:rPr>
                <a:latin typeface="Vazirmatn"/>
              </a:rPr>
              <a:t>SHIP logistics on screen: photo -&gt; s02_tree.jpg -&gt; commit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[50:00] CONSOLIDATION — cold call, one question per student:</a:t>
            </a:r>
          </a:p>
          <a:p>
            <a:r>
              <a:rPr>
                <a:latin typeface="Vazirmatn"/>
              </a:rPr>
              <a:t>tree parts? why did depth-2 fix the puppy? what is max_depth? can two trees both be right?</a:t>
            </a:r>
          </a:p>
          <a:p>
            <a:r>
              <a:rPr>
                <a:latin typeface="Vazirmatn"/>
              </a:rPr>
              <a:t>If anyone stumbles on Q1-3, re-explain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[55:00] SHIP + loop OUT LOUD: photo committed tonight; 3 problems (20-30 min); next session opens by solving them TOGETHER from their attempts.</a:t>
            </a:r>
          </a:p>
          <a:p>
            <a:r>
              <a:rPr>
                <a:latin typeface="Vazirmatn"/>
              </a:rPr>
              <a:t>Show how at-home notebooks get judged (instructor-only run): python judge/run.py s02_notebook.ipynb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One sentence of story per problem:</a:t>
            </a:r>
          </a:p>
          <a:p>
            <a:r>
              <a:rPr>
                <a:latin typeface="Vazirmatn"/>
              </a:rPr>
              <a:t>B1 count the tree's questions and rooms; B2 trace the elephant's path; B3 find the smallest perfect depth with the loop.</a:t>
            </a:r>
          </a:p>
          <a:p>
            <a:r>
              <a:rPr>
                <a:latin typeface="Vazirmatn"/>
              </a:rPr>
              <a:t>Deadline: before the problem-solving session. ~20-30 min total. First judge run is all-red — that's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[60:00 — end on time.] CLIFFHANGER verbatim:</a:t>
            </a:r>
          </a:p>
          <a:p>
            <a:r>
              <a:rPr>
                <a:latin typeface="Vazirmatn"/>
              </a:rPr>
              <a:t>"WHO taught the MACHINE to pick its questions? Why weight &gt;= 14 and not 7?</a:t>
            </a:r>
          </a:p>
          <a:p>
            <a:r>
              <a:rPr>
                <a:latin typeface="Vazirmatn"/>
              </a:rPr>
              <a:t>Next time: you become the question-picker."</a:t>
            </a:r>
          </a:p>
          <a:p>
            <a:r>
              <a:rPr>
                <a:latin typeface="Vazirmatn"/>
              </a:rPr>
              <a:t>AFTER CLASS (48h): fill the retro note in the session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ماشینِ ۲۰ سؤالی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>
                <a:solidFill>
                  <a:srgbClr val="3C4043"/>
                </a:solidFill>
                <a:latin typeface="Vazirmatn"/>
              </a:rPr>
              <a:t>روز دوم — تو یک درخت تصمیم می‌کشی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بخش ۱ · جلسهٔ 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تا پایان امروز، تو یک درخت تصمیم با دست می‌کشی.</a:t>
            </a:r>
          </a:p>
        </p:txBody>
      </p:sp>
      <p:pic>
        <p:nvPicPr>
          <p:cNvPr id="7" name="Picture 6" descr="share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بازیِ ۲۰ سؤالی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من به یک حیوان فکر می‌کنم.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فقط سؤالِ بله/خیر بپرسید.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شمارنده بالا می‌رود...</a:t>
            </a:r>
          </a:p>
        </p:txBody>
      </p:sp>
      <p:pic>
        <p:nvPicPr>
          <p:cNvPr id="7" name="Picture 6" descr="twenty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شما همین الان یک درخت بودید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جواب یک در بود؛ هر در، یک راهِ تازه.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اسمِ این شکل: درخت تصمیم — بازیِ ماشینِ جلسهٔ 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حالا ماشین بازی کند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جلسهٔ قبل: یک سؤال ← توله‌سگ گربه شد!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امروز: دو سؤال اجازه دارد.</a:t>
            </a:r>
          </a:p>
        </p:txBody>
      </p:sp>
      <p:pic>
        <p:nvPicPr>
          <p:cNvPr id="6" name="Picture 5" descr="demo_depth1_vs_dept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6451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کالبدشکافی درخت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گره (Node) = یک سؤال — چهارراهی با تابلو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شاخه (Branch) = درِ هر جواب (بله/خیر)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برگ (Leaf) = اتاقِ آخر — جای گفتنِ حکم</a:t>
            </a:r>
          </a:p>
        </p:txBody>
      </p:sp>
      <p:pic>
        <p:nvPicPr>
          <p:cNvPr id="7" name="Picture 6" descr="tre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ماشینِ جلسهٔ ۱ = یک سؤال</a:t>
            </a:r>
          </a:p>
        </p:txBody>
      </p:sp>
      <p:pic>
        <p:nvPicPr>
          <p:cNvPr id="4" name="Picture 3" descr="decision_tree_s02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721" y="1005840"/>
            <a:ext cx="711825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خطِ قرمزِ جلسهٔ ۱، به شکلِ درخت.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یک سؤال، دو در، دو حکم.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ریشه: اولین سؤال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وزن ‎≥ ۱۴‎ را انتخاب کرد.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شما در بازی، اول چه پرسیدید؟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دو سؤال، سه اتاق</a:t>
            </a:r>
          </a:p>
        </p:txBody>
      </p:sp>
      <p:pic>
        <p:nvPicPr>
          <p:cNvPr id="4" name="Picture 3" descr="decision_tree_s02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387" y="1005840"/>
            <a:ext cx="736092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سگ‌های بزرگ با یک سؤال؛ گربه و سگ کوچک با سؤال دوم.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فیل کدام در را می‌گذرد؟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وزن ‎≥ ۱۴‎؟ ← بله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حکم: سگ بزرگ — بدون هیچ سؤال دوم!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مسیر را بخوان: توله‌سگ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وزن ‎≥ ۱۴‎؟ ← نه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گوش ‎≥ ۸.۲۵‎؟ ← بله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حکم: سگ کوچک — درست!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پیچِ عمق (max_depth)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max_depth = حداکثر تعداد سؤال‌ها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عمق ۱: توله‌سگ گربه می‌شود — ۷۳٪ درست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عمق ۲: همه‌چیز درست — ۱۰۰٪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دستت را روی پیچ بگذار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آزمایشگاه: درختِ خودت را بکش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۱۱ حیوان. سه اتاق. فقط سؤال‌های بله/خیر.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 و مداد. هر درختی که کار کند، برنده است.</a:t>
            </a:r>
          </a:p>
        </p:txBody>
      </p:sp>
      <p:pic>
        <p:nvPicPr>
          <p:cNvPr id="6" name="Picture 5" descr="pap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نبردِ درخت‌ها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کاغذها را عوض کنید.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حیوانِ غافلگیرکن: خرگوش. روباه. همستر. گنجشک. شیر.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خنده‌دارترین شکست، تشویق می‌گیرد!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A3A66"/>
                </a:solidFill>
                <a:latin typeface="Vazirmatn"/>
              </a:rPr>
              <a:t>درختِ تو = درختِ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کاغذی تو و plot_tree ماشین، یک شکل‌اند.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سؤال، در، سؤال، در، حکم.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امشب عکسِ درختت را به مخزنت کامیت کن.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pic>
        <p:nvPicPr>
          <p:cNvPr id="3" name="Picture 2" descr="share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1874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امروز یاد گرفتی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درخت = گره، شاخه، برگ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ریشه = اولین سؤال؛ عمق = بیشترین سؤال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عمق ۲، اشتباهِ توله‌سگ را درمان کرد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درخت‌های مختلف می‌توانند درست باشند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تحویل امشب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عکسِ درختِ کاغذی‌ات ← s02_tree.jpg ← مخزن گیت‌هاب تو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سه تمرین کوچک در نت‌بوک: بشمار، پیش‌بینی کن، عمقِ درست را پیدا کن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تمرین‌های خانه (۳ تا)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B1 شمارندهٔ سؤال و برگ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B2 اتاقِ فیل کدام است؟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B3 کوچک‌ترین عمقِ بی‌نقص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جلسهٔ بعد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وزن ‎≥ ۱۴‎ را از کجا آورد؟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چه کسی سؤال‌ها را انتخاب می‌کند؟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دفعهٔ بعد: تو انتخاب‌کنندهٔ سؤال می‌شوی.</a:t>
            </a:r>
          </a:p>
        </p:txBody>
      </p:sp>
      <p:pic>
        <p:nvPicPr>
          <p:cNvPr id="7" name="Picture 6" descr="shared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